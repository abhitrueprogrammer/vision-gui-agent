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2"/>
    <p:sldId id="263" r:id="rId3"/>
    <p:sldId id="257" r:id="rId4"/>
    <p:sldId id="258" r:id="rId5"/>
    <p:sldId id="259" r:id="rId6"/>
    <p:sldId id="270" r:id="rId22"/>
    <p:sldId id="260" r:id="rId7"/>
    <p:sldId id="261" r:id="rId8"/>
    <p:sldId id="264" r:id="rId9"/>
    <p:sldId id="271" r:id="rId23"/>
    <p:sldId id="265" r:id="rId10"/>
    <p:sldId id="266" r:id="rId11"/>
    <p:sldId id="267" r:id="rId12"/>
    <p:sldId id="273" r:id="rId25"/>
    <p:sldId id="272" r:id="rId24"/>
    <p:sldId id="268" r:id="rId13"/>
    <p:sldId id="269" r:id="rId14"/>
    <p:sldId id="262" r:id="rId15"/>
    <p:sldId id="27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1232" y="-1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8.xml"/><Relationship Id="rId16" Type="http://schemas.openxmlformats.org/officeDocument/2006/relationships/notesMaster" Target="notesMasters/notesMaster1.xml"/><Relationship Id="rId17" Type="http://schemas.openxmlformats.org/officeDocument/2006/relationships/printerSettings" Target="printerSettings/printerSettings1.bin"/><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6.xml"/><Relationship Id="rId23" Type="http://schemas.openxmlformats.org/officeDocument/2006/relationships/slide" Target="slides/slide10.xml"/><Relationship Id="rId24" Type="http://schemas.openxmlformats.org/officeDocument/2006/relationships/slide" Target="slides/slide15.xml"/><Relationship Id="rId25" Type="http://schemas.openxmlformats.org/officeDocument/2006/relationships/slide" Target="slides/slide14.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05/10/26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F50F18A0-E201-1900-A139-E830DD3EA1D1}"/>
              </a:ext>
            </a:extLst>
          </p:cNvPr>
          <p:cNvSpPr>
            <a:spLocks noGrp="1"/>
          </p:cNvSpPr>
          <p:nvPr>
            <p:ph type="dt" sz="half" idx="10"/>
          </p:nvPr>
        </p:nvSpPr>
        <p:spPr/>
        <p:txBody>
          <a:bodyPr/>
          <a:lstStyle/>
          <a:p>
            <a:fld id="{8F3E78AE-7F97-4550-9DD8-BF69171FDC30}" type="datetime1">
              <a:rPr lang="en-IN" smtClean="0"/>
              <a:t>05/10/26</a:t>
            </a:fld>
            <a:endParaRPr lang="en-IN"/>
          </a:p>
        </p:txBody>
      </p:sp>
      <p:sp>
        <p:nvSpPr>
          <p:cNvPr id="5" name="Footer Placeholder 4">
            <a:extLst>
              <a:ext uri="{FF2B5EF4-FFF2-40B4-BE49-F238E27FC236}">
                <a16:creationId xmlns:a16="http://schemas.microsoft.com/office/drawing/2014/main" xmlns=""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B080259-8D20-E29B-4DC5-312C3DB01BB3}"/>
              </a:ext>
            </a:extLst>
          </p:cNvPr>
          <p:cNvSpPr>
            <a:spLocks noGrp="1"/>
          </p:cNvSpPr>
          <p:nvPr>
            <p:ph type="dt" sz="half" idx="10"/>
          </p:nvPr>
        </p:nvSpPr>
        <p:spPr/>
        <p:txBody>
          <a:bodyPr/>
          <a:lstStyle/>
          <a:p>
            <a:fld id="{FEA886FF-1BA7-4533-94E6-869CE1E2970B}" type="datetime1">
              <a:rPr lang="en-IN" smtClean="0"/>
              <a:t>05/10/26</a:t>
            </a:fld>
            <a:endParaRPr lang="en-IN"/>
          </a:p>
        </p:txBody>
      </p:sp>
      <p:sp>
        <p:nvSpPr>
          <p:cNvPr id="5" name="Footer Placeholder 4">
            <a:extLst>
              <a:ext uri="{FF2B5EF4-FFF2-40B4-BE49-F238E27FC236}">
                <a16:creationId xmlns:a16="http://schemas.microsoft.com/office/drawing/2014/main" xmlns=""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767CE67-8E8A-4D0D-42DF-DDC842B1B17A}"/>
              </a:ext>
            </a:extLst>
          </p:cNvPr>
          <p:cNvSpPr>
            <a:spLocks noGrp="1"/>
          </p:cNvSpPr>
          <p:nvPr>
            <p:ph type="dt" sz="half" idx="10"/>
          </p:nvPr>
        </p:nvSpPr>
        <p:spPr/>
        <p:txBody>
          <a:bodyPr/>
          <a:lstStyle/>
          <a:p>
            <a:fld id="{93E22BD8-A2C4-424B-809A-C64DDCC305D9}" type="datetime1">
              <a:rPr lang="en-IN" smtClean="0"/>
              <a:t>05/10/26</a:t>
            </a:fld>
            <a:endParaRPr lang="en-IN"/>
          </a:p>
        </p:txBody>
      </p:sp>
      <p:sp>
        <p:nvSpPr>
          <p:cNvPr id="5" name="Footer Placeholder 4">
            <a:extLst>
              <a:ext uri="{FF2B5EF4-FFF2-40B4-BE49-F238E27FC236}">
                <a16:creationId xmlns:a16="http://schemas.microsoft.com/office/drawing/2014/main" xmlns=""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50DA5E84-A1E0-A1C4-F7E6-DA9E7B124C77}"/>
              </a:ext>
            </a:extLst>
          </p:cNvPr>
          <p:cNvSpPr>
            <a:spLocks noGrp="1"/>
          </p:cNvSpPr>
          <p:nvPr>
            <p:ph type="dt" sz="half" idx="10"/>
          </p:nvPr>
        </p:nvSpPr>
        <p:spPr/>
        <p:txBody>
          <a:bodyPr/>
          <a:lstStyle/>
          <a:p>
            <a:fld id="{B620F4BC-B3A4-46AF-9AEC-8478EF1369D5}" type="datetime1">
              <a:rPr lang="en-IN" smtClean="0"/>
              <a:t>05/10/26</a:t>
            </a:fld>
            <a:endParaRPr lang="en-IN"/>
          </a:p>
        </p:txBody>
      </p:sp>
      <p:sp>
        <p:nvSpPr>
          <p:cNvPr id="6" name="Footer Placeholder 5">
            <a:extLst>
              <a:ext uri="{FF2B5EF4-FFF2-40B4-BE49-F238E27FC236}">
                <a16:creationId xmlns:a16="http://schemas.microsoft.com/office/drawing/2014/main" xmlns=""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6D20C02-77C2-CB2A-62F8-60B8C62629ED}"/>
              </a:ext>
            </a:extLst>
          </p:cNvPr>
          <p:cNvSpPr>
            <a:spLocks noGrp="1"/>
          </p:cNvSpPr>
          <p:nvPr>
            <p:ph type="dt" sz="half" idx="10"/>
          </p:nvPr>
        </p:nvSpPr>
        <p:spPr/>
        <p:txBody>
          <a:bodyPr/>
          <a:lstStyle/>
          <a:p>
            <a:fld id="{4C9A2993-B405-4F4D-B968-A01C27211659}" type="datetime1">
              <a:rPr lang="en-IN" smtClean="0"/>
              <a:t>05/10/26</a:t>
            </a:fld>
            <a:endParaRPr lang="en-IN"/>
          </a:p>
        </p:txBody>
      </p:sp>
      <p:sp>
        <p:nvSpPr>
          <p:cNvPr id="8" name="Footer Placeholder 7">
            <a:extLst>
              <a:ext uri="{FF2B5EF4-FFF2-40B4-BE49-F238E27FC236}">
                <a16:creationId xmlns:a16="http://schemas.microsoft.com/office/drawing/2014/main" xmlns=""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xmlns=""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2F1AB3B-AFC6-3627-62E6-22313061FA80}"/>
              </a:ext>
            </a:extLst>
          </p:cNvPr>
          <p:cNvSpPr>
            <a:spLocks noGrp="1"/>
          </p:cNvSpPr>
          <p:nvPr>
            <p:ph type="dt" sz="half" idx="10"/>
          </p:nvPr>
        </p:nvSpPr>
        <p:spPr/>
        <p:txBody>
          <a:bodyPr/>
          <a:lstStyle/>
          <a:p>
            <a:fld id="{79378C8C-5FBB-4DD7-A06D-BE263480794B}" type="datetime1">
              <a:rPr lang="en-IN" smtClean="0"/>
              <a:t>05/10/26</a:t>
            </a:fld>
            <a:endParaRPr lang="en-IN"/>
          </a:p>
        </p:txBody>
      </p:sp>
      <p:sp>
        <p:nvSpPr>
          <p:cNvPr id="4" name="Footer Placeholder 3">
            <a:extLst>
              <a:ext uri="{FF2B5EF4-FFF2-40B4-BE49-F238E27FC236}">
                <a16:creationId xmlns:a16="http://schemas.microsoft.com/office/drawing/2014/main" xmlns=""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xmlns=""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23F289A-3AD7-C11D-1594-90A35E592B5C}"/>
              </a:ext>
            </a:extLst>
          </p:cNvPr>
          <p:cNvSpPr>
            <a:spLocks noGrp="1"/>
          </p:cNvSpPr>
          <p:nvPr>
            <p:ph type="dt" sz="half" idx="10"/>
          </p:nvPr>
        </p:nvSpPr>
        <p:spPr/>
        <p:txBody>
          <a:bodyPr/>
          <a:lstStyle/>
          <a:p>
            <a:fld id="{31FD2985-06EC-459B-80C8-F6F4362A1C03}" type="datetime1">
              <a:rPr lang="en-IN" smtClean="0"/>
              <a:t>05/10/26</a:t>
            </a:fld>
            <a:endParaRPr lang="en-IN"/>
          </a:p>
        </p:txBody>
      </p:sp>
      <p:sp>
        <p:nvSpPr>
          <p:cNvPr id="3" name="Footer Placeholder 2">
            <a:extLst>
              <a:ext uri="{FF2B5EF4-FFF2-40B4-BE49-F238E27FC236}">
                <a16:creationId xmlns:a16="http://schemas.microsoft.com/office/drawing/2014/main" xmlns=""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xmlns=""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94758D6-7AF2-29C5-E0EE-3B7BE155EC20}"/>
              </a:ext>
            </a:extLst>
          </p:cNvPr>
          <p:cNvSpPr>
            <a:spLocks noGrp="1"/>
          </p:cNvSpPr>
          <p:nvPr>
            <p:ph type="dt" sz="half" idx="10"/>
          </p:nvPr>
        </p:nvSpPr>
        <p:spPr/>
        <p:txBody>
          <a:bodyPr/>
          <a:lstStyle/>
          <a:p>
            <a:fld id="{71D7E9DA-13C6-48A4-9305-B592482DE8CE}" type="datetime1">
              <a:rPr lang="en-IN" smtClean="0"/>
              <a:t>05/10/26</a:t>
            </a:fld>
            <a:endParaRPr lang="en-IN"/>
          </a:p>
        </p:txBody>
      </p:sp>
      <p:sp>
        <p:nvSpPr>
          <p:cNvPr id="6" name="Footer Placeholder 5">
            <a:extLst>
              <a:ext uri="{FF2B5EF4-FFF2-40B4-BE49-F238E27FC236}">
                <a16:creationId xmlns:a16="http://schemas.microsoft.com/office/drawing/2014/main" xmlns=""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E57E1CE-C7CA-966D-8661-1E99A7DA2174}"/>
              </a:ext>
            </a:extLst>
          </p:cNvPr>
          <p:cNvSpPr>
            <a:spLocks noGrp="1"/>
          </p:cNvSpPr>
          <p:nvPr>
            <p:ph type="dt" sz="half" idx="10"/>
          </p:nvPr>
        </p:nvSpPr>
        <p:spPr/>
        <p:txBody>
          <a:bodyPr/>
          <a:lstStyle/>
          <a:p>
            <a:fld id="{F45E7C4B-C575-4DCF-9B63-045662930500}" type="datetime1">
              <a:rPr lang="en-IN" smtClean="0"/>
              <a:t>05/10/26</a:t>
            </a:fld>
            <a:endParaRPr lang="en-IN"/>
          </a:p>
        </p:txBody>
      </p:sp>
      <p:sp>
        <p:nvSpPr>
          <p:cNvPr id="6" name="Footer Placeholder 5">
            <a:extLst>
              <a:ext uri="{FF2B5EF4-FFF2-40B4-BE49-F238E27FC236}">
                <a16:creationId xmlns:a16="http://schemas.microsoft.com/office/drawing/2014/main" xmlns=""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C1ADFC6-7CEA-ABEE-94C2-870B1E65737A}"/>
              </a:ext>
            </a:extLst>
          </p:cNvPr>
          <p:cNvSpPr>
            <a:spLocks noGrp="1"/>
          </p:cNvSpPr>
          <p:nvPr>
            <p:ph type="dt" sz="half" idx="10"/>
          </p:nvPr>
        </p:nvSpPr>
        <p:spPr/>
        <p:txBody>
          <a:bodyPr/>
          <a:lstStyle/>
          <a:p>
            <a:fld id="{5576931C-EA1A-43DD-B3B3-66F5BA587712}" type="datetime1">
              <a:rPr lang="en-IN" smtClean="0"/>
              <a:t>05/10/26</a:t>
            </a:fld>
            <a:endParaRPr lang="en-IN"/>
          </a:p>
        </p:txBody>
      </p:sp>
      <p:sp>
        <p:nvSpPr>
          <p:cNvPr id="5" name="Footer Placeholder 4">
            <a:extLst>
              <a:ext uri="{FF2B5EF4-FFF2-40B4-BE49-F238E27FC236}">
                <a16:creationId xmlns:a16="http://schemas.microsoft.com/office/drawing/2014/main" xmlns=""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1D2109-32D1-4A0F-F903-5142A204EF48}"/>
              </a:ext>
            </a:extLst>
          </p:cNvPr>
          <p:cNvSpPr>
            <a:spLocks noGrp="1"/>
          </p:cNvSpPr>
          <p:nvPr>
            <p:ph type="dt" sz="half" idx="10"/>
          </p:nvPr>
        </p:nvSpPr>
        <p:spPr/>
        <p:txBody>
          <a:bodyPr/>
          <a:lstStyle/>
          <a:p>
            <a:fld id="{82C9B0E1-7C95-4C20-B9C6-BA51F388E878}" type="datetime1">
              <a:rPr lang="en-IN" smtClean="0"/>
              <a:t>05/10/26</a:t>
            </a:fld>
            <a:endParaRPr lang="en-IN"/>
          </a:p>
        </p:txBody>
      </p:sp>
      <p:sp>
        <p:nvSpPr>
          <p:cNvPr id="5" name="Footer Placeholder 4">
            <a:extLst>
              <a:ext uri="{FF2B5EF4-FFF2-40B4-BE49-F238E27FC236}">
                <a16:creationId xmlns:a16="http://schemas.microsoft.com/office/drawing/2014/main" xmlns=""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05/10/26</a:t>
            </a:fld>
            <a:endParaRPr lang="en-IN"/>
          </a:p>
        </p:txBody>
      </p:sp>
      <p:sp>
        <p:nvSpPr>
          <p:cNvPr id="5" name="Footer Placeholder 4">
            <a:extLst>
              <a:ext uri="{FF2B5EF4-FFF2-40B4-BE49-F238E27FC236}">
                <a16:creationId xmlns:a16="http://schemas.microsoft.com/office/drawing/2014/main" xmlns=""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xmlns=""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forms.gle/B9B71VPy5b9bZ9dJ8" TargetMode="Externa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934141"/>
            <a:ext cx="8924544" cy="1089529"/>
          </a:xfrm>
          <a:prstGeom prst="rect">
            <a:avLst/>
          </a:prstGeom>
          <a:noFill/>
        </p:spPr>
        <p:txBody>
          <a:bodyPr wrap="square" rtlCol="0">
            <a:spAutoFit/>
          </a:bodyPr>
          <a:lstStyle/>
          <a:p>
            <a:pPr algn="ctr"/>
            <a:r>
              <a:rPr sz="2200" b="1"/>
              <a:t>B.Tech BCSE497J - Project 1</a:t>
            </a:r>
          </a:p>
          <a:p>
            <a:pPr algn="ctr"/>
            <a:r>
              <a:rPr sz="2800" b="1"/>
              <a:t>Vision-Based UI State Discovery for API-Independent Software Automation</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460809"/>
          </a:xfrm>
          <a:prstGeom prst="rect">
            <a:avLst/>
          </a:prstGeom>
        </p:spPr>
        <p:txBody>
          <a:bodyPr vert="horz" wrap="square" lIns="0" tIns="12700" rIns="0" bIns="0" rtlCol="0">
            <a:spAutoFit/>
          </a:bodyPr>
          <a:lstStyle/>
          <a:p>
            <a:pPr algn="ctr">
              <a:lnSpc>
                <a:spcPct val="100000"/>
              </a:lnSpc>
              <a:spcBef>
                <a:spcPts val="200"/>
              </a:spcBef>
              <a:spcAft>
                <a:spcPts val="200"/>
              </a:spcAft>
            </a:pPr>
            <a:r>
              <a:rPr sz="1600" b="1">
                <a:latin typeface="Calibri"/>
              </a:rPr>
              <a:t>Project ID: 12385UG03</a:t>
            </a:r>
            <a:endParaRPr sz="1800" dirty="0">
              <a:latin typeface="Times New Roman"/>
              <a:cs typeface="Times New Roman"/>
            </a:endParaRPr>
          </a:p>
          <a:p>
            <a:pPr algn="ctr">
              <a:spcAft>
                <a:spcPts val="200"/>
              </a:spcAft>
            </a:pPr>
            <a:r>
              <a:rPr sz="1600" b="0">
                <a:latin typeface="Calibri"/>
              </a:rPr>
              <a:t/>
            </a:r>
          </a:p>
          <a:p>
            <a:pPr algn="ctr">
              <a:spcAft>
                <a:spcPts val="200"/>
              </a:spcAft>
            </a:pPr>
            <a:r>
              <a:rPr sz="1600" b="0">
                <a:latin typeface="Calibri"/>
              </a:rPr>
              <a:t>Team members:</a:t>
            </a:r>
          </a:p>
          <a:p>
            <a:pPr algn="ctr">
              <a:spcAft>
                <a:spcPts val="200"/>
              </a:spcAft>
            </a:pPr>
            <a:r>
              <a:rPr sz="1600" b="1">
                <a:latin typeface="Calibri"/>
              </a:rPr>
              <a:t>Mantri Vishnu Vikranth   (23BCE0526)</a:t>
            </a:r>
          </a:p>
          <a:p>
            <a:pPr algn="ctr">
              <a:spcAft>
                <a:spcPts val="200"/>
              </a:spcAft>
            </a:pPr>
            <a:r>
              <a:rPr sz="1600" b="1">
                <a:latin typeface="Calibri"/>
              </a:rPr>
              <a:t>Harish Kumar V S           (23BCT0223)</a:t>
            </a:r>
          </a:p>
          <a:p>
            <a:pPr algn="ctr">
              <a:spcAft>
                <a:spcPts val="200"/>
              </a:spcAft>
            </a:pPr>
            <a:r>
              <a:rPr sz="1600" b="1">
                <a:latin typeface="Calibri"/>
              </a:rPr>
              <a:t>Abhinav Pant                   (23BCE0513)</a:t>
            </a:r>
          </a:p>
          <a:p>
            <a:pPr algn="ctr">
              <a:spcAft>
                <a:spcPts val="200"/>
              </a:spcAft>
            </a:pPr>
            <a:r>
              <a:rPr sz="1600" b="0">
                <a:latin typeface="Calibri"/>
              </a:rPr>
              <a:t/>
            </a:r>
          </a:p>
          <a:p>
            <a:pPr algn="ctr">
              <a:spcAft>
                <a:spcPts val="200"/>
              </a:spcAft>
            </a:pPr>
            <a:r>
              <a:rPr sz="1600" b="0">
                <a:latin typeface="Calibri"/>
              </a:rPr>
              <a:t>Faculty guide :</a:t>
            </a:r>
          </a:p>
          <a:p>
            <a:pPr algn="ctr">
              <a:spcAft>
                <a:spcPts val="200"/>
              </a:spcAft>
            </a:pPr>
            <a:r>
              <a:rPr sz="1600" b="1">
                <a:latin typeface="Calibri"/>
              </a:rPr>
              <a:t>Dr. Sendhil Kumar K S</a:t>
            </a: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6ACBE13-A9D6-9564-DA47-597E38E09F70}"/>
              </a:ext>
            </a:extLst>
          </p:cNvPr>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Approval Mail From Guide</a:t>
            </a:r>
          </a:p>
        </p:txBody>
      </p:sp>
      <p:sp>
        <p:nvSpPr>
          <p:cNvPr id="3" name="Content Placeholder 2">
            <a:extLst>
              <a:ext uri="{FF2B5EF4-FFF2-40B4-BE49-F238E27FC236}">
                <a16:creationId xmlns:a16="http://schemas.microsoft.com/office/drawing/2014/main" xmlns="" id="{8233367C-DAD6-6E34-D21A-A981C09442F2}"/>
              </a:ext>
            </a:extLst>
          </p:cNvPr>
          <p:cNvSpPr>
            <a:spLocks noGrp="1"/>
          </p:cNvSpPr>
          <p:nvPr>
            <p:ph idx="1"/>
          </p:nvPr>
        </p:nvSpPr>
        <p:spPr>
          <a:xfrm>
            <a:off x="822960" y="1463040"/>
            <a:ext cx="10515600" cy="868680"/>
          </a:xfrm>
        </p:spPr>
        <p:txBody>
          <a:bodyPr wrap="square" anchor="t">
            <a:noAutofit/>
          </a:bodyPr>
          <a:lstStyle/>
          <a:p>
            <a:pPr marL="228600" indent="-228600">
              <a:lnSpc>
                <a:spcPct val="100000"/>
              </a:lnSpc>
              <a:spcBef>
                <a:spcPts val="0"/>
              </a:spcBef>
              <a:spcAft>
                <a:spcPts val="600"/>
              </a:spcAft>
              <a:buFont typeface="Arial"/>
              <a:buChar char="•"/>
            </a:pPr>
            <a:r>
              <a:rPr sz="1600" b="0" i="0">
                <a:latin typeface="Times New Roman"/>
                <a:cs typeface="Times New Roman"/>
              </a:rPr>
              <a:t>Guide approval for the Review 3 points below was to be obtained by e-mail before 21-10-2026 (sample format below).</a:t>
            </a:r>
          </a:p>
          <a:p>
            <a:pPr marL="228600" indent="-228600">
              <a:lnSpc>
                <a:spcPct val="100000"/>
              </a:lnSpc>
              <a:spcBef>
                <a:spcPts val="0"/>
              </a:spcBef>
              <a:spcAft>
                <a:spcPts val="600"/>
              </a:spcAft>
              <a:buFont typeface="Arial"/>
              <a:buChar char="•"/>
            </a:pPr>
            <a:r>
              <a:rPr sz="1600" b="1" i="0">
                <a:latin typeface="Times New Roman"/>
                <a:cs typeface="Times New Roman"/>
              </a:rPr>
              <a:t>Status: Not Provided - the guide's approval e-mail is to be inserted here before submission.</a:t>
            </a:r>
          </a:p>
        </p:txBody>
      </p:sp>
      <p:sp>
        <p:nvSpPr>
          <p:cNvPr id="4" name="Date Placeholder 3">
            <a:extLst>
              <a:ext uri="{FF2B5EF4-FFF2-40B4-BE49-F238E27FC236}">
                <a16:creationId xmlns:a16="http://schemas.microsoft.com/office/drawing/2014/main" xmlns="" id="{C7827C50-3ED3-2DB6-C227-6784C6CA9E30}"/>
              </a:ext>
            </a:extLst>
          </p:cNvPr>
          <p:cNvSpPr>
            <a:spLocks noGrp="1"/>
          </p:cNvSpPr>
          <p:nvPr>
            <p:ph type="dt" sz="half" idx="10"/>
          </p:nvPr>
        </p:nvSpPr>
        <p:spPr/>
        <p:txBody>
          <a:bodyPr/>
          <a:lstStyle/>
          <a:p>
            <a:r>
              <a:rPr lang="en-IN" smtClean="0"/>
              <a:t>28-10-2026</a:t>
            </a:r>
            <a:endParaRPr lang="en-IN" dirty="0"/>
          </a:p>
        </p:txBody>
      </p:sp>
      <p:sp>
        <p:nvSpPr>
          <p:cNvPr id="5" name="Footer Placeholder 4">
            <a:extLst>
              <a:ext uri="{FF2B5EF4-FFF2-40B4-BE49-F238E27FC236}">
                <a16:creationId xmlns:a16="http://schemas.microsoft.com/office/drawing/2014/main" xmlns="" id="{56664170-792F-28F8-1C31-5F7A8D69F97E}"/>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EE16528B-72DB-0275-6A94-33ABB5CD7075}"/>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7" name="Picture 6" descr="Screen Shot 2026-10-05 at 11.12.42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0053" y="2703606"/>
            <a:ext cx="8942979" cy="2671465"/>
          </a:xfrm>
          <a:prstGeom prst="rect">
            <a:avLst/>
          </a:prstGeom>
        </p:spPr>
      </p:pic>
      <p:sp>
        <p:nvSpPr>
          <p:cNvPr id="8" name="TextBox 7"/>
          <p:cNvSpPr txBox="1"/>
          <p:nvPr/>
        </p:nvSpPr>
        <p:spPr>
          <a:xfrm>
            <a:off x="822960" y="5623560"/>
            <a:ext cx="10515600" cy="411480"/>
          </a:xfrm>
          <a:prstGeom prst="rect">
            <a:avLst/>
          </a:prstGeom>
          <a:noFill/>
        </p:spPr>
        <p:txBody>
          <a:bodyPr wrap="square" lIns="45720" rIns="45720" tIns="27432" bIns="27432" anchor="t">
            <a:noAutofit/>
          </a:bodyPr>
          <a:lstStyle/>
          <a:p>
            <a:pPr marL="0" indent="0">
              <a:lnSpc>
                <a:spcPct val="100000"/>
              </a:lnSpc>
              <a:spcBef>
                <a:spcPts val="0"/>
              </a:spcBef>
              <a:spcAft>
                <a:spcPts val="400"/>
              </a:spcAft>
              <a:buNone/>
            </a:pPr>
            <a:r>
              <a:rPr sz="1600" b="0" i="0">
                <a:latin typeface="Times New Roman"/>
                <a:cs typeface="Times New Roman"/>
              </a:rPr>
              <a:t>All the above aspects are addressed and updated by the project team.</a:t>
            </a:r>
          </a:p>
        </p:txBody>
      </p:sp>
    </p:spTree>
    <p:extLst>
      <p:ext uri="{BB962C8B-B14F-4D97-AF65-F5344CB8AC3E}">
        <p14:creationId xmlns:p14="http://schemas.microsoft.com/office/powerpoint/2010/main" val="1256560622"/>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D68A428-04DA-E6A8-7606-5D2FE5F31C52}"/>
              </a:ext>
            </a:extLst>
          </p:cNvPr>
          <p:cNvSpPr>
            <a:spLocks noGrp="1"/>
          </p:cNvSpPr>
          <p:nvPr>
            <p:ph idx="1"/>
          </p:nvPr>
        </p:nvSpPr>
        <p:spPr>
          <a:xfrm>
            <a:off x="822960" y="1417320"/>
            <a:ext cx="10607040" cy="4800600"/>
          </a:xfrm>
        </p:spPr>
        <p:txBody>
          <a:bodyPr wrap="square" anchor="t">
            <a:noAutofit/>
          </a:bodyPr>
          <a:lstStyle/>
          <a:p>
            <a:pPr marL="228600" indent="-228600">
              <a:lnSpc>
                <a:spcPct val="100000"/>
              </a:lnSpc>
              <a:spcBef>
                <a:spcPts val="0"/>
              </a:spcBef>
              <a:spcAft>
                <a:spcPts val="700"/>
              </a:spcAft>
              <a:buFont typeface="Arial"/>
              <a:buChar char="•"/>
            </a:pPr>
            <a:r>
              <a:rPr sz="1600" b="1" i="0">
                <a:latin typeface="Times New Roman"/>
                <a:cs typeface="Times New Roman"/>
              </a:rPr>
              <a:t>Primary aim (from Review 1, retained): </a:t>
            </a:r>
            <a:r>
              <a:rPr sz="1600" b="0" i="0">
                <a:latin typeface="Times New Roman"/>
                <a:cs typeface="Times New Roman"/>
              </a:rPr>
              <a:t>to develop an API-independent software agent that automates applications from their pixels alone. It reads only screenshots (and the page URL) and acts only through mouse and keyboard events, without APIs, DOM selectors or accessibility trees.</a:t>
            </a:r>
          </a:p>
          <a:p>
            <a:pPr marL="228600" indent="-228600">
              <a:lnSpc>
                <a:spcPct val="100000"/>
              </a:lnSpc>
              <a:spcBef>
                <a:spcPts val="0"/>
              </a:spcBef>
              <a:spcAft>
                <a:spcPts val="700"/>
              </a:spcAft>
              <a:buFont typeface="Arial"/>
              <a:buChar char="•"/>
            </a:pPr>
            <a:r>
              <a:rPr sz="1600" b="1" i="0">
                <a:latin typeface="Times New Roman"/>
                <a:cs typeface="Times New Roman"/>
              </a:rPr>
              <a:t>Final focus of Project-I: </a:t>
            </a:r>
            <a:r>
              <a:rPr sz="1600" b="0" i="0">
                <a:latin typeface="Times New Roman"/>
                <a:cs typeface="Times New Roman"/>
              </a:rPr>
              <a:t>to let such an agent discover the states and behaviour of an unfamiliar GUI from its own interaction: what each control changes (its effects) and what must hold for it to work (its preconditions), with preconditions confirmed by experiments that make no LLM calls.</a:t>
            </a:r>
          </a:p>
          <a:p>
            <a:pPr marL="228600" indent="-228600">
              <a:lnSpc>
                <a:spcPct val="100000"/>
              </a:lnSpc>
              <a:spcBef>
                <a:spcPts val="0"/>
              </a:spcBef>
              <a:spcAft>
                <a:spcPts val="700"/>
              </a:spcAft>
              <a:buFont typeface="Arial"/>
              <a:buChar char="•"/>
            </a:pPr>
            <a:r>
              <a:rPr sz="1600" b="1" i="0">
                <a:latin typeface="Times New Roman"/>
                <a:cs typeface="Times New Roman"/>
              </a:rPr>
              <a:t>Why it matters: </a:t>
            </a:r>
            <a:r>
              <a:rPr sz="1600" b="0" i="0">
                <a:latin typeface="Times New Roman"/>
                <a:cs typeface="Times New Roman"/>
              </a:rPr>
              <a:t>an explicit, plannable model lets later tasks run on learned steps, so automation becomes more reliable and needs fewer calls to a multimodal LLM.</a:t>
            </a:r>
          </a:p>
          <a:p>
            <a:pPr marL="228600" indent="-228600">
              <a:lnSpc>
                <a:spcPct val="100000"/>
              </a:lnSpc>
              <a:spcBef>
                <a:spcPts val="0"/>
              </a:spcBef>
              <a:spcAft>
                <a:spcPts val="700"/>
              </a:spcAft>
              <a:buFont typeface="Arial"/>
              <a:buChar char="•"/>
            </a:pPr>
            <a:r>
              <a:rPr sz="1600" b="1" i="0">
                <a:latin typeface="Times New Roman"/>
                <a:cs typeface="Times New Roman"/>
              </a:rPr>
              <a:t>Key paradigms</a:t>
            </a:r>
          </a:p>
          <a:p>
            <a:pPr marL="571500" indent="-228600">
              <a:lnSpc>
                <a:spcPct val="100000"/>
              </a:lnSpc>
              <a:spcBef>
                <a:spcPts val="0"/>
              </a:spcBef>
              <a:spcAft>
                <a:spcPts val="700"/>
              </a:spcAft>
              <a:buFont typeface="Arial"/>
              <a:buChar char="–"/>
            </a:pPr>
            <a:r>
              <a:rPr sz="1500" b="0" i="0">
                <a:latin typeface="Times New Roman"/>
                <a:cs typeface="Times New Roman"/>
              </a:rPr>
              <a:t>From Reactive to Stateful: knowledge persists across tasks instead of being rediscovered on every task.</a:t>
            </a:r>
          </a:p>
          <a:p>
            <a:pPr marL="571500" indent="-228600">
              <a:lnSpc>
                <a:spcPct val="100000"/>
              </a:lnSpc>
              <a:spcBef>
                <a:spcPts val="0"/>
              </a:spcBef>
              <a:spcAft>
                <a:spcPts val="700"/>
              </a:spcAft>
              <a:buFont typeface="Arial"/>
              <a:buChar char="–"/>
            </a:pPr>
            <a:r>
              <a:rPr sz="1500" b="0" i="0">
                <a:latin typeface="Times New Roman"/>
                <a:cs typeface="Times New Roman"/>
              </a:rPr>
              <a:t>From Code to Cognition: no HTML, DOM or accessibility tree; facts are read from the pixels.</a:t>
            </a:r>
          </a:p>
          <a:p>
            <a:pPr marL="571500" indent="-228600">
              <a:lnSpc>
                <a:spcPct val="100000"/>
              </a:lnSpc>
              <a:spcBef>
                <a:spcPts val="0"/>
              </a:spcBef>
              <a:spcAft>
                <a:spcPts val="700"/>
              </a:spcAft>
              <a:buFont typeface="Arial"/>
              <a:buChar char="–"/>
            </a:pPr>
            <a:r>
              <a:rPr sz="1500" b="0" i="0">
                <a:latin typeface="Times New Roman"/>
                <a:cs typeface="Times New Roman"/>
              </a:rPr>
              <a:t>From Coordinates to Semantics: controls are identified by section and label, so knowledge survives layout changes.</a:t>
            </a:r>
          </a:p>
          <a:p>
            <a:pPr marL="571500" indent="-228600">
              <a:lnSpc>
                <a:spcPct val="100000"/>
              </a:lnSpc>
              <a:spcBef>
                <a:spcPts val="0"/>
              </a:spcBef>
              <a:spcAft>
                <a:spcPts val="700"/>
              </a:spcAft>
              <a:buFont typeface="Arial"/>
              <a:buChar char="–"/>
            </a:pPr>
            <a:r>
              <a:rPr sz="1500" b="0" i="0">
                <a:latin typeface="Times New Roman"/>
                <a:cs typeface="Times New Roman"/>
              </a:rPr>
              <a:t>From Topology to Function: remembering what each action does and when it works, not only where it led.</a:t>
            </a:r>
          </a:p>
          <a:p>
            <a:pPr marL="571500" indent="-228600">
              <a:lnSpc>
                <a:spcPct val="100000"/>
              </a:lnSpc>
              <a:spcBef>
                <a:spcPts val="0"/>
              </a:spcBef>
              <a:spcAft>
                <a:spcPts val="700"/>
              </a:spcAft>
              <a:buFont typeface="Arial"/>
              <a:buChar char="–"/>
            </a:pPr>
            <a:r>
              <a:rPr sz="1500" b="0" i="0">
                <a:latin typeface="Times New Roman"/>
                <a:cs typeface="Times New Roman"/>
              </a:rPr>
              <a:t>From Observation to Experiment (new at Review 3): preconditions are confirmed by replaying and ablating the agent's own runs.</a:t>
            </a:r>
          </a:p>
        </p:txBody>
      </p:sp>
      <p:sp>
        <p:nvSpPr>
          <p:cNvPr id="4" name="object 2">
            <a:extLst>
              <a:ext uri="{FF2B5EF4-FFF2-40B4-BE49-F238E27FC236}">
                <a16:creationId xmlns:a16="http://schemas.microsoft.com/office/drawing/2014/main" xmlns=""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xmlns="" id="{779E6AA7-AE20-8A91-BA42-261BF76A2F8B}"/>
              </a:ext>
            </a:extLst>
          </p:cNvPr>
          <p:cNvSpPr>
            <a:spLocks noGrp="1"/>
          </p:cNvSpPr>
          <p:nvPr>
            <p:ph type="dt" sz="half" idx="10"/>
          </p:nvPr>
        </p:nvSpPr>
        <p:spPr/>
        <p:txBody>
          <a:bodyPr/>
          <a:lstStyle/>
          <a:p>
            <a:r>
              <a:rPr lang="en-IN" smtClean="0"/>
              <a:t>28-10-2026</a:t>
            </a:r>
            <a:endParaRPr lang="en-IN"/>
          </a:p>
        </p:txBody>
      </p:sp>
      <p:sp>
        <p:nvSpPr>
          <p:cNvPr id="8" name="Footer Placeholder 7">
            <a:extLst>
              <a:ext uri="{FF2B5EF4-FFF2-40B4-BE49-F238E27FC236}">
                <a16:creationId xmlns:a16="http://schemas.microsoft.com/office/drawing/2014/main" xmlns=""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xmlns=""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5DDED8F-1EBD-2E10-598E-0CA3F56F05DF}"/>
              </a:ext>
            </a:extLst>
          </p:cNvPr>
          <p:cNvSpPr>
            <a:spLocks noGrp="1"/>
          </p:cNvSpPr>
          <p:nvPr>
            <p:ph idx="1"/>
          </p:nvPr>
        </p:nvSpPr>
        <p:spPr>
          <a:xfrm>
            <a:off x="822960" y="1417320"/>
            <a:ext cx="10607040" cy="4800600"/>
          </a:xfrm>
        </p:spPr>
        <p:txBody>
          <a:bodyPr wrap="square" anchor="t">
            <a:noAutofit/>
          </a:bodyPr>
          <a:lstStyle/>
          <a:p>
            <a:pPr marL="228600" indent="-228600">
              <a:lnSpc>
                <a:spcPct val="100000"/>
              </a:lnSpc>
              <a:spcBef>
                <a:spcPts val="0"/>
              </a:spcBef>
              <a:spcAft>
                <a:spcPts val="1000"/>
              </a:spcAft>
              <a:buFont typeface="Arial"/>
              <a:buChar char="•"/>
            </a:pPr>
            <a:r>
              <a:rPr sz="1600" b="0" i="0">
                <a:latin typeface="Times New Roman"/>
                <a:cs typeface="Times New Roman"/>
              </a:rPr>
              <a:t>Most software automation needs an API, DOM selectors or an accessibility tree, and many applications provide none. Agents that read screenshots with a multimodal LLM avoid this, but they work out how an application behaves again on every task and pay a model call for every step.</a:t>
            </a:r>
          </a:p>
          <a:p>
            <a:pPr marL="228600" indent="-228600">
              <a:lnSpc>
                <a:spcPct val="100000"/>
              </a:lnSpc>
              <a:spcBef>
                <a:spcPts val="0"/>
              </a:spcBef>
              <a:spcAft>
                <a:spcPts val="1000"/>
              </a:spcAft>
              <a:buFont typeface="Arial"/>
              <a:buChar char="•"/>
            </a:pPr>
            <a:r>
              <a:rPr sz="1600" b="0" i="0">
                <a:latin typeface="Times New Roman"/>
                <a:cs typeface="Times New Roman"/>
              </a:rPr>
              <a:t>We built an agent that sees only screenshots and the page URL and acts only through mouse and keyboard events (Playwright in Chromium, PyAutoGUI on the desktop). OmniParser and RapidOCR detect controls locally, and a pixel-contrast rule decides whether each control is enabled.</a:t>
            </a:r>
          </a:p>
          <a:p>
            <a:pPr marL="228600" indent="-228600">
              <a:lnSpc>
                <a:spcPct val="100000"/>
              </a:lnSpc>
              <a:spcBef>
                <a:spcPts val="0"/>
              </a:spcBef>
              <a:spcAft>
                <a:spcPts val="1000"/>
              </a:spcAft>
              <a:buFont typeface="Arial"/>
              <a:buChar char="•"/>
            </a:pPr>
            <a:r>
              <a:rPr sz="1600" b="0" i="0">
                <a:latin typeface="Times New Roman"/>
                <a:cs typeface="Times New Roman"/>
              </a:rPr>
              <a:t>Each screen is reduced to facts tied to the application section where they appear. From its own interaction the agent learns each control's effects and preconditions. An experiment phase replays its earlier runs with single steps left out, without any LLM call, to confirm or refute preconditions. A backward-chaining planner runs learned actions directly, declares impossible tasks unavailable and stops multi-part tasks from ending early.</a:t>
            </a:r>
          </a:p>
          <a:p>
            <a:pPr marL="228600" indent="-228600">
              <a:lnSpc>
                <a:spcPct val="100000"/>
              </a:lnSpc>
              <a:spcBef>
                <a:spcPts val="0"/>
              </a:spcBef>
              <a:spcAft>
                <a:spcPts val="1000"/>
              </a:spcAft>
              <a:buFont typeface="Arial"/>
              <a:buChar char="•"/>
            </a:pPr>
            <a:r>
              <a:rPr sz="1600" b="0" i="0">
                <a:latin typeface="Times New Roman"/>
                <a:cs typeface="Times New Roman"/>
              </a:rPr>
              <a:t>On our Visual Function Lab benchmark (3 applications, 47 tasks per agent, 3 layouts, 3 seeds) the experimenting agent solved 52% of 141 task runs, against 38% with passive learning and 27% without memory, using 10.7 instead of 16.7 LLM calls per task. Learned effects had a precision of 0.93-1.00. A paper on the work has been submitted to ISAS 2026.</a:t>
            </a:r>
          </a:p>
        </p:txBody>
      </p:sp>
      <p:sp>
        <p:nvSpPr>
          <p:cNvPr id="4" name="object 2">
            <a:extLst>
              <a:ext uri="{FF2B5EF4-FFF2-40B4-BE49-F238E27FC236}">
                <a16:creationId xmlns:a16="http://schemas.microsoft.com/office/drawing/2014/main" xmlns=""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7C3D067F-DF0A-3BD2-0B9E-C22E39B7F8C0}"/>
              </a:ext>
            </a:extLst>
          </p:cNvPr>
          <p:cNvSpPr>
            <a:spLocks noGrp="1"/>
          </p:cNvSpPr>
          <p:nvPr>
            <p:ph type="dt" sz="half" idx="10"/>
          </p:nvPr>
        </p:nvSpPr>
        <p:spPr/>
        <p:txBody>
          <a:bodyPr/>
          <a:lstStyle/>
          <a:p>
            <a:r>
              <a:rPr lang="en-IN" smtClean="0"/>
              <a:t>28-10-2026</a:t>
            </a:r>
            <a:endParaRPr lang="en-IN"/>
          </a:p>
        </p:txBody>
      </p:sp>
      <p:sp>
        <p:nvSpPr>
          <p:cNvPr id="5" name="Footer Placeholder 4">
            <a:extLst>
              <a:ext uri="{FF2B5EF4-FFF2-40B4-BE49-F238E27FC236}">
                <a16:creationId xmlns:a16="http://schemas.microsoft.com/office/drawing/2014/main" xmlns=""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xmlns="" id="{913BC6E0-D294-E70D-8B27-13FBFEE5E6F7}"/>
              </a:ext>
            </a:extLst>
          </p:cNvPr>
          <p:cNvSpPr>
            <a:spLocks noGrp="1"/>
          </p:cNvSpPr>
          <p:nvPr>
            <p:ph type="dt" sz="half" idx="10"/>
          </p:nvPr>
        </p:nvSpPr>
        <p:spPr/>
        <p:txBody>
          <a:bodyPr/>
          <a:lstStyle/>
          <a:p>
            <a:r>
              <a:rPr lang="en-IN" smtClean="0"/>
              <a:t>28-10-2026</a:t>
            </a:r>
            <a:endParaRPr lang="en-IN"/>
          </a:p>
        </p:txBody>
      </p:sp>
      <p:sp>
        <p:nvSpPr>
          <p:cNvPr id="9" name="Footer Placeholder 8">
            <a:extLst>
              <a:ext uri="{FF2B5EF4-FFF2-40B4-BE49-F238E27FC236}">
                <a16:creationId xmlns:a16="http://schemas.microsoft.com/office/drawing/2014/main" xmlns=""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xmlns=""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Table 10"/>
          <p:cNvGraphicFramePr>
            <a:graphicFrameLocks noGrp="1"/>
          </p:cNvGraphicFramePr>
          <p:nvPr/>
        </p:nvGraphicFramePr>
        <p:xfrm>
          <a:off x="320040" y="1325880"/>
          <a:ext cx="11430000" cy="4480560"/>
        </p:xfrm>
        <a:graphic>
          <a:graphicData uri="http://schemas.openxmlformats.org/drawingml/2006/table">
            <a:tbl>
              <a:tblPr firstRow="1" bandRow="1">
                <a:tableStyleId>{5C22544A-7EE6-4342-B048-85BDC9FD1C3A}</a:tableStyleId>
              </a:tblPr>
              <a:tblGrid>
                <a:gridCol w="2011680"/>
                <a:gridCol w="2057400"/>
                <a:gridCol w="2331720"/>
                <a:gridCol w="2514600"/>
                <a:gridCol w="2514600"/>
              </a:tblGrid>
              <a:tr h="365760">
                <a:tc>
                  <a:txBody>
                    <a:bodyPr wrap="square"/>
                    <a:lstStyle/>
                    <a:p>
                      <a:r>
                        <a:rPr sz="1400" b="1" i="0">
                          <a:latin typeface="Times New Roman"/>
                          <a:cs typeface="Times New Roman"/>
                        </a:rPr>
                        <a:t>Paper / System</a:t>
                      </a:r>
                    </a:p>
                  </a:txBody>
                  <a:tcPr marL="45720" marR="45720" marT="22860" marB="22860"/>
                </a:tc>
                <a:tc>
                  <a:txBody>
                    <a:bodyPr wrap="square"/>
                    <a:lstStyle/>
                    <a:p>
                      <a:r>
                        <a:rPr sz="1400" b="1" i="0">
                          <a:latin typeface="Times New Roman"/>
                          <a:cs typeface="Times New Roman"/>
                        </a:rPr>
                        <a:t>Objective</a:t>
                      </a:r>
                    </a:p>
                  </a:txBody>
                  <a:tcPr marL="45720" marR="45720" marT="22860" marB="22860"/>
                </a:tc>
                <a:tc>
                  <a:txBody>
                    <a:bodyPr wrap="square"/>
                    <a:lstStyle/>
                    <a:p>
                      <a:r>
                        <a:rPr sz="1400" b="1" i="0">
                          <a:latin typeface="Times New Roman"/>
                          <a:cs typeface="Times New Roman"/>
                        </a:rPr>
                        <a:t>Methodology</a:t>
                      </a:r>
                    </a:p>
                  </a:txBody>
                  <a:tcPr marL="45720" marR="45720" marT="22860" marB="22860"/>
                </a:tc>
                <a:tc>
                  <a:txBody>
                    <a:bodyPr wrap="square"/>
                    <a:lstStyle/>
                    <a:p>
                      <a:r>
                        <a:rPr sz="1400" b="1" i="0">
                          <a:latin typeface="Times New Roman"/>
                          <a:cs typeface="Times New Roman"/>
                        </a:rPr>
                        <a:t>Pros / Cons</a:t>
                      </a:r>
                    </a:p>
                  </a:txBody>
                  <a:tcPr marL="45720" marR="45720" marT="22860" marB="22860"/>
                </a:tc>
                <a:tc>
                  <a:txBody>
                    <a:bodyPr wrap="square"/>
                    <a:lstStyle/>
                    <a:p>
                      <a:r>
                        <a:rPr sz="1400" b="1" i="0">
                          <a:latin typeface="Times New Roman"/>
                          <a:cs typeface="Times New Roman"/>
                        </a:rPr>
                        <a:t>Findings for this project</a:t>
                      </a:r>
                    </a:p>
                  </a:txBody>
                  <a:tcPr marL="45720" marR="45720" marT="22860" marB="22860"/>
                </a:tc>
              </a:tr>
              <a:tr h="685800">
                <a:tc>
                  <a:txBody>
                    <a:bodyPr wrap="square"/>
                    <a:lstStyle/>
                    <a:p>
                      <a:r>
                        <a:rPr sz="1300" b="0" i="0">
                          <a:latin typeface="Times New Roman"/>
                          <a:cs typeface="Times New Roman"/>
                        </a:rPr>
                        <a:t>SeeAct [1], CogAgent [2], SeeClick [3] (ICML, CVPR, ACL 2024)</a:t>
                      </a:r>
                    </a:p>
                  </a:txBody>
                  <a:tcPr marL="45720" marR="45720" marT="22860" marB="22860"/>
                </a:tc>
                <a:tc>
                  <a:txBody>
                    <a:bodyPr wrap="square"/>
                    <a:lstStyle/>
                    <a:p>
                      <a:r>
                        <a:rPr sz="1300" b="0" i="0">
                          <a:latin typeface="Times New Roman"/>
                          <a:cs typeface="Times New Roman"/>
                        </a:rPr>
                        <a:t>Operate GUIs and websites from screenshots</a:t>
                      </a:r>
                    </a:p>
                  </a:txBody>
                  <a:tcPr marL="45720" marR="45720" marT="22860" marB="22860"/>
                </a:tc>
                <a:tc>
                  <a:txBody>
                    <a:bodyPr wrap="square"/>
                    <a:lstStyle/>
                    <a:p>
                      <a:r>
                        <a:rPr sz="1300" b="0" i="0">
                          <a:latin typeface="Times New Roman"/>
                          <a:cs typeface="Times New Roman"/>
                        </a:rPr>
                        <a:t>Multimodal model grounds each action in the screenshot; GUI-specialised vision-language models</a:t>
                      </a:r>
                    </a:p>
                  </a:txBody>
                  <a:tcPr marL="45720" marR="45720" marT="22860" marB="22860"/>
                </a:tc>
                <a:tc>
                  <a:txBody>
                    <a:bodyPr wrap="square"/>
                    <a:lstStyle/>
                    <a:p>
                      <a:r>
                        <a:rPr sz="1300" b="0" i="0">
                          <a:latin typeface="Times New Roman"/>
                          <a:cs typeface="Times New Roman"/>
                        </a:rPr>
                        <a:t>+ Pixel-only, works across applications</a:t>
                      </a:r>
                      <a:br/>
                      <a:r>
                        <a:rPr sz="1300" b="0" i="0">
                          <a:latin typeface="Times New Roman"/>
                          <a:cs typeface="Times New Roman"/>
                        </a:rPr>
                        <a:t>- Every step decided anew by a model call</a:t>
                      </a:r>
                    </a:p>
                  </a:txBody>
                  <a:tcPr marL="45720" marR="45720" marT="22860" marB="22860"/>
                </a:tc>
                <a:tc>
                  <a:txBody>
                    <a:bodyPr wrap="square"/>
                    <a:lstStyle/>
                    <a:p>
                      <a:r>
                        <a:rPr sz="1300" b="0" i="0">
                          <a:latin typeface="Times New Roman"/>
                          <a:cs typeface="Times New Roman"/>
                        </a:rPr>
                        <a:t>Each step costs an LLM call: motivates learned steps that need none</a:t>
                      </a:r>
                    </a:p>
                  </a:txBody>
                  <a:tcPr marL="45720" marR="45720" marT="22860" marB="22860"/>
                </a:tc>
              </a:tr>
              <a:tr h="685800">
                <a:tc>
                  <a:txBody>
                    <a:bodyPr wrap="square"/>
                    <a:lstStyle/>
                    <a:p>
                      <a:r>
                        <a:rPr sz="1300" b="0" i="0">
                          <a:latin typeface="Times New Roman"/>
                          <a:cs typeface="Times New Roman"/>
                        </a:rPr>
                        <a:t>OmniParser [4], Set-of-Mark [10] (2023-24)</a:t>
                      </a:r>
                    </a:p>
                  </a:txBody>
                  <a:tcPr marL="45720" marR="45720" marT="22860" marB="22860"/>
                </a:tc>
                <a:tc>
                  <a:txBody>
                    <a:bodyPr wrap="square"/>
                    <a:lstStyle/>
                    <a:p>
                      <a:r>
                        <a:rPr sz="1300" b="0" i="0">
                          <a:latin typeface="Times New Roman"/>
                          <a:cs typeface="Times New Roman"/>
                        </a:rPr>
                        <a:t>Parse a screen into numbered, interactable regions</a:t>
                      </a:r>
                    </a:p>
                  </a:txBody>
                  <a:tcPr marL="45720" marR="45720" marT="22860" marB="22860"/>
                </a:tc>
                <a:tc>
                  <a:txBody>
                    <a:bodyPr wrap="square"/>
                    <a:lstStyle/>
                    <a:p>
                      <a:r>
                        <a:rPr sz="1300" b="0" i="0">
                          <a:latin typeface="Times New Roman"/>
                          <a:cs typeface="Times New Roman"/>
                        </a:rPr>
                        <a:t>Region detector with captions; numbered marks drawn on the image</a:t>
                      </a:r>
                    </a:p>
                  </a:txBody>
                  <a:tcPr marL="45720" marR="45720" marT="22860" marB="22860"/>
                </a:tc>
                <a:tc>
                  <a:txBody>
                    <a:bodyPr wrap="square"/>
                    <a:lstStyle/>
                    <a:p>
                      <a:r>
                        <a:rPr sz="1300" b="0" i="0">
                          <a:latin typeface="Times New Roman"/>
                          <a:cs typeface="Times New Roman"/>
                        </a:rPr>
                        <a:t>+ No DOM needed; detection runs locally</a:t>
                      </a:r>
                      <a:br/>
                      <a:r>
                        <a:rPr sz="1300" b="0" i="0">
                          <a:latin typeface="Times New Roman"/>
                          <a:cs typeface="Times New Roman"/>
                        </a:rPr>
                        <a:t>- Perception only, no model of behaviour</a:t>
                      </a:r>
                    </a:p>
                  </a:txBody>
                  <a:tcPr marL="45720" marR="45720" marT="22860" marB="22860"/>
                </a:tc>
                <a:tc>
                  <a:txBody>
                    <a:bodyPr wrap="square"/>
                    <a:lstStyle/>
                    <a:p>
                      <a:r>
                        <a:rPr sz="1300" b="0" i="0">
                          <a:latin typeface="Times New Roman"/>
                          <a:cs typeface="Times New Roman"/>
                        </a:rPr>
                        <a:t>Adopted: OmniParser + OCR for detection, Set-of-Mark screenshot for the policy</a:t>
                      </a:r>
                    </a:p>
                  </a:txBody>
                  <a:tcPr marL="45720" marR="45720" marT="22860" marB="22860"/>
                </a:tc>
              </a:tr>
              <a:tr h="685800">
                <a:tc>
                  <a:txBody>
                    <a:bodyPr wrap="square"/>
                    <a:lstStyle/>
                    <a:p>
                      <a:r>
                        <a:rPr sz="1300" b="0" i="0">
                          <a:latin typeface="Times New Roman"/>
                          <a:cs typeface="Times New Roman"/>
                        </a:rPr>
                        <a:t>UFO [11] (2024)</a:t>
                      </a:r>
                    </a:p>
                  </a:txBody>
                  <a:tcPr marL="45720" marR="45720" marT="22860" marB="22860"/>
                </a:tc>
                <a:tc>
                  <a:txBody>
                    <a:bodyPr wrap="square"/>
                    <a:lstStyle/>
                    <a:p>
                      <a:r>
                        <a:rPr sz="1300" b="0" i="0">
                          <a:latin typeface="Times New Roman"/>
                          <a:cs typeface="Times New Roman"/>
                        </a:rPr>
                        <a:t>LLM agent for Windows applications</a:t>
                      </a:r>
                    </a:p>
                  </a:txBody>
                  <a:tcPr marL="45720" marR="45720" marT="22860" marB="22860"/>
                </a:tc>
                <a:tc>
                  <a:txBody>
                    <a:bodyPr wrap="square"/>
                    <a:lstStyle/>
                    <a:p>
                      <a:r>
                        <a:rPr sz="1300" b="0" i="0">
                          <a:latin typeface="Times New Roman"/>
                          <a:cs typeface="Times New Roman"/>
                        </a:rPr>
                        <a:t>UI-focused multimodal agent over application windows</a:t>
                      </a:r>
                    </a:p>
                  </a:txBody>
                  <a:tcPr marL="45720" marR="45720" marT="22860" marB="22860"/>
                </a:tc>
                <a:tc>
                  <a:txBody>
                    <a:bodyPr wrap="square"/>
                    <a:lstStyle/>
                    <a:p>
                      <a:r>
                        <a:rPr sz="1300" b="0" i="0">
                          <a:latin typeface="Times New Roman"/>
                          <a:cs typeface="Times New Roman"/>
                        </a:rPr>
                        <a:t>+ Desktop coverage</a:t>
                      </a:r>
                      <a:br/>
                      <a:r>
                        <a:rPr sz="1300" b="0" i="0">
                          <a:latin typeface="Times New Roman"/>
                          <a:cs typeface="Times New Roman"/>
                        </a:rPr>
                        <a:t>- No learned model of application behaviour</a:t>
                      </a:r>
                    </a:p>
                  </a:txBody>
                  <a:tcPr marL="45720" marR="45720" marT="22860" marB="22860"/>
                </a:tc>
                <a:tc>
                  <a:txBody>
                    <a:bodyPr wrap="square"/>
                    <a:lstStyle/>
                    <a:p>
                      <a:r>
                        <a:rPr sz="1300" b="0" i="0">
                          <a:latin typeface="Times New Roman"/>
                          <a:cs typeface="Times New Roman"/>
                        </a:rPr>
                        <a:t>Every step is still decided by the LLM</a:t>
                      </a:r>
                    </a:p>
                  </a:txBody>
                  <a:tcPr marL="45720" marR="45720" marT="22860" marB="22860"/>
                </a:tc>
              </a:tr>
              <a:tr h="685800">
                <a:tc>
                  <a:txBody>
                    <a:bodyPr wrap="square"/>
                    <a:lstStyle/>
                    <a:p>
                      <a:r>
                        <a:rPr sz="1300" b="0" i="0">
                          <a:latin typeface="Times New Roman"/>
                          <a:cs typeface="Times New Roman"/>
                        </a:rPr>
                        <a:t>AppAgent [12] (2023)</a:t>
                      </a:r>
                    </a:p>
                  </a:txBody>
                  <a:tcPr marL="45720" marR="45720" marT="22860" marB="22860"/>
                </a:tc>
                <a:tc>
                  <a:txBody>
                    <a:bodyPr wrap="square"/>
                    <a:lstStyle/>
                    <a:p>
                      <a:r>
                        <a:rPr sz="1300" b="0" i="0">
                          <a:latin typeface="Times New Roman"/>
                          <a:cs typeface="Times New Roman"/>
                        </a:rPr>
                        <a:t>Learn smartphone apps by exploring them</a:t>
                      </a:r>
                    </a:p>
                  </a:txBody>
                  <a:tcPr marL="45720" marR="45720" marT="22860" marB="22860"/>
                </a:tc>
                <a:tc>
                  <a:txBody>
                    <a:bodyPr wrap="square"/>
                    <a:lstStyle/>
                    <a:p>
                      <a:r>
                        <a:rPr sz="1300" b="0" i="0">
                          <a:latin typeface="Times New Roman"/>
                          <a:cs typeface="Times New Roman"/>
                        </a:rPr>
                        <a:t>Autonomous exploration; natural-language notes per control</a:t>
                      </a:r>
                    </a:p>
                  </a:txBody>
                  <a:tcPr marL="45720" marR="45720" marT="22860" marB="22860"/>
                </a:tc>
                <a:tc>
                  <a:txBody>
                    <a:bodyPr wrap="square"/>
                    <a:lstStyle/>
                    <a:p>
                      <a:r>
                        <a:rPr sz="1300" b="0" i="0">
                          <a:latin typeface="Times New Roman"/>
                          <a:cs typeface="Times New Roman"/>
                        </a:rPr>
                        <a:t>+ Training-free</a:t>
                      </a:r>
                      <a:br/>
                      <a:r>
                        <a:rPr sz="1300" b="0" i="0">
                          <a:latin typeface="Times New Roman"/>
                          <a:cs typeface="Times New Roman"/>
                        </a:rPr>
                        <a:t>- Notes must be read by the LLM at every step</a:t>
                      </a:r>
                    </a:p>
                  </a:txBody>
                  <a:tcPr marL="45720" marR="45720" marT="22860" marB="22860"/>
                </a:tc>
                <a:tc>
                  <a:txBody>
                    <a:bodyPr wrap="square"/>
                    <a:lstStyle/>
                    <a:p>
                      <a:r>
                        <a:rPr sz="1300" b="0" i="0">
                          <a:latin typeface="Times New Roman"/>
                          <a:cs typeface="Times New Roman"/>
                        </a:rPr>
                        <a:t>Learned knowledge should be executable without the LLM</a:t>
                      </a:r>
                    </a:p>
                  </a:txBody>
                  <a:tcPr marL="45720" marR="45720" marT="22860" marB="22860"/>
                </a:tc>
              </a:tr>
              <a:tr h="685800">
                <a:tc>
                  <a:txBody>
                    <a:bodyPr wrap="square"/>
                    <a:lstStyle/>
                    <a:p>
                      <a:r>
                        <a:rPr sz="1300" b="0" i="0">
                          <a:latin typeface="Times New Roman"/>
                          <a:cs typeface="Times New Roman"/>
                        </a:rPr>
                        <a:t>AutoDroid [13] (MobiCom 2024), MobileGPT [14] (2023)</a:t>
                      </a:r>
                    </a:p>
                  </a:txBody>
                  <a:tcPr marL="45720" marR="45720" marT="22860" marB="22860"/>
                </a:tc>
                <a:tc>
                  <a:txBody>
                    <a:bodyPr wrap="square"/>
                    <a:lstStyle/>
                    <a:p>
                      <a:r>
                        <a:rPr sz="1300" b="0" i="0">
                          <a:latin typeface="Times New Roman"/>
                          <a:cs typeface="Times New Roman"/>
                        </a:rPr>
                        <a:t>Reuse app knowledge for mobile task automation</a:t>
                      </a:r>
                    </a:p>
                  </a:txBody>
                  <a:tcPr marL="45720" marR="45720" marT="22860" marB="22860"/>
                </a:tc>
                <a:tc>
                  <a:txBody>
                    <a:bodyPr wrap="square"/>
                    <a:lstStyle/>
                    <a:p>
                      <a:r>
                        <a:rPr sz="1300" b="0" i="0">
                          <a:latin typeface="Times New Roman"/>
                          <a:cs typeface="Times New Roman"/>
                        </a:rPr>
                        <a:t>UI knowledge from automated exploration; cached sub-task procedures</a:t>
                      </a:r>
                    </a:p>
                  </a:txBody>
                  <a:tcPr marL="45720" marR="45720" marT="22860" marB="22860"/>
                </a:tc>
                <a:tc>
                  <a:txBody>
                    <a:bodyPr wrap="square"/>
                    <a:lstStyle/>
                    <a:p>
                      <a:r>
                        <a:rPr sz="1300" b="0" i="0">
                          <a:latin typeface="Times New Roman"/>
                          <a:cs typeface="Times New Roman"/>
                        </a:rPr>
                        <a:t>+ Fewer repeated steps</a:t>
                      </a:r>
                      <a:br/>
                      <a:r>
                        <a:rPr sz="1300" b="0" i="0">
                          <a:latin typeface="Times New Roman"/>
                          <a:cs typeface="Times New Roman"/>
                        </a:rPr>
                        <a:t>- Accept whatever happened in a trace</a:t>
                      </a:r>
                    </a:p>
                  </a:txBody>
                  <a:tcPr marL="45720" marR="45720" marT="22860" marB="22860"/>
                </a:tc>
                <a:tc>
                  <a:txBody>
                    <a:bodyPr wrap="square"/>
                    <a:lstStyle/>
                    <a:p>
                      <a:r>
                        <a:rPr sz="1300" b="0" i="0">
                          <a:latin typeface="Times New Roman"/>
                          <a:cs typeface="Times New Roman"/>
                        </a:rPr>
                        <a:t>No test separates a real precondition from a coincidence</a:t>
                      </a:r>
                    </a:p>
                  </a:txBody>
                  <a:tcPr marL="45720" marR="45720" marT="22860" marB="22860"/>
                </a:tc>
              </a:tr>
              <a:tr h="685800">
                <a:tc>
                  <a:txBody>
                    <a:bodyPr wrap="square"/>
                    <a:lstStyle/>
                    <a:p>
                      <a:r>
                        <a:rPr sz="1300" b="0" i="0">
                          <a:latin typeface="Times New Roman"/>
                          <a:cs typeface="Times New Roman"/>
                        </a:rPr>
                        <a:t>Agent Workflow Memory [15] (ICML 2025)</a:t>
                      </a:r>
                    </a:p>
                  </a:txBody>
                  <a:tcPr marL="45720" marR="45720" marT="22860" marB="22860"/>
                </a:tc>
                <a:tc>
                  <a:txBody>
                    <a:bodyPr wrap="square"/>
                    <a:lstStyle/>
                    <a:p>
                      <a:r>
                        <a:rPr sz="1300" b="0" i="0">
                          <a:latin typeface="Times New Roman"/>
                          <a:cs typeface="Times New Roman"/>
                        </a:rPr>
                        <a:t>Induce reusable workflows from past web runs</a:t>
                      </a:r>
                    </a:p>
                  </a:txBody>
                  <a:tcPr marL="45720" marR="45720" marT="22860" marB="22860"/>
                </a:tc>
                <a:tc>
                  <a:txBody>
                    <a:bodyPr wrap="square"/>
                    <a:lstStyle/>
                    <a:p>
                      <a:r>
                        <a:rPr sz="1300" b="0" i="0">
                          <a:latin typeface="Times New Roman"/>
                          <a:cs typeface="Times New Roman"/>
                        </a:rPr>
                        <a:t>Workflows induced from runs and added to the prompt</a:t>
                      </a:r>
                    </a:p>
                  </a:txBody>
                  <a:tcPr marL="45720" marR="45720" marT="22860" marB="22860"/>
                </a:tc>
                <a:tc>
                  <a:txBody>
                    <a:bodyPr wrap="square"/>
                    <a:lstStyle/>
                    <a:p>
                      <a:r>
                        <a:rPr sz="1300" b="0" i="0">
                          <a:latin typeface="Times New Roman"/>
                          <a:cs typeface="Times New Roman"/>
                        </a:rPr>
                        <a:t>+ Gains on web benchmarks</a:t>
                      </a:r>
                      <a:br/>
                      <a:r>
                        <a:rPr sz="1300" b="0" i="0">
                          <a:latin typeface="Times New Roman"/>
                          <a:cs typeface="Times New Roman"/>
                        </a:rPr>
                        <a:t>- Still LLM-driven at every step</a:t>
                      </a:r>
                    </a:p>
                  </a:txBody>
                  <a:tcPr marL="45720" marR="45720" marT="22860" marB="22860"/>
                </a:tc>
                <a:tc>
                  <a:txBody>
                    <a:bodyPr wrap="square"/>
                    <a:lstStyle/>
                    <a:p>
                      <a:r>
                        <a:rPr sz="1300" b="0" i="0">
                          <a:latin typeface="Times New Roman"/>
                          <a:cs typeface="Times New Roman"/>
                        </a:rPr>
                        <a:t>A memory baseline for our future comparison</a:t>
                      </a:r>
                    </a:p>
                  </a:txBody>
                  <a:tcPr marL="45720" marR="45720" marT="22860" marB="22860"/>
                </a:tc>
              </a:tr>
            </a:tbl>
          </a:graphicData>
        </a:graphic>
      </p:graphicFrame>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 (continued)</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xmlns="" id="{913BC6E0-D294-E70D-8B27-13FBFEE5E6F7}"/>
              </a:ext>
            </a:extLst>
          </p:cNvPr>
          <p:cNvSpPr>
            <a:spLocks noGrp="1"/>
          </p:cNvSpPr>
          <p:nvPr>
            <p:ph type="dt" sz="half" idx="10"/>
          </p:nvPr>
        </p:nvSpPr>
        <p:spPr/>
        <p:txBody>
          <a:bodyPr/>
          <a:lstStyle/>
          <a:p>
            <a:r>
              <a:rPr lang="en-IN" smtClean="0"/>
              <a:t>28-10-2026</a:t>
            </a:r>
            <a:endParaRPr lang="en-IN"/>
          </a:p>
        </p:txBody>
      </p:sp>
      <p:sp>
        <p:nvSpPr>
          <p:cNvPr id="9" name="Footer Placeholder 8">
            <a:extLst>
              <a:ext uri="{FF2B5EF4-FFF2-40B4-BE49-F238E27FC236}">
                <a16:creationId xmlns:a16="http://schemas.microsoft.com/office/drawing/2014/main" xmlns=""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xmlns=""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Table 10"/>
          <p:cNvGraphicFramePr>
            <a:graphicFrameLocks noGrp="1"/>
          </p:cNvGraphicFramePr>
          <p:nvPr/>
        </p:nvGraphicFramePr>
        <p:xfrm>
          <a:off x="320040" y="1325880"/>
          <a:ext cx="11430000" cy="3794760"/>
        </p:xfrm>
        <a:graphic>
          <a:graphicData uri="http://schemas.openxmlformats.org/drawingml/2006/table">
            <a:tbl>
              <a:tblPr firstRow="1" bandRow="1">
                <a:tableStyleId>{5C22544A-7EE6-4342-B048-85BDC9FD1C3A}</a:tableStyleId>
              </a:tblPr>
              <a:tblGrid>
                <a:gridCol w="2011680"/>
                <a:gridCol w="2057400"/>
                <a:gridCol w="2331720"/>
                <a:gridCol w="2514600"/>
                <a:gridCol w="2514600"/>
              </a:tblGrid>
              <a:tr h="365760">
                <a:tc>
                  <a:txBody>
                    <a:bodyPr wrap="square"/>
                    <a:lstStyle/>
                    <a:p>
                      <a:r>
                        <a:rPr sz="1400" b="1" i="0">
                          <a:latin typeface="Times New Roman"/>
                          <a:cs typeface="Times New Roman"/>
                        </a:rPr>
                        <a:t>Paper / System</a:t>
                      </a:r>
                    </a:p>
                  </a:txBody>
                  <a:tcPr marL="45720" marR="45720" marT="22860" marB="22860"/>
                </a:tc>
                <a:tc>
                  <a:txBody>
                    <a:bodyPr wrap="square"/>
                    <a:lstStyle/>
                    <a:p>
                      <a:r>
                        <a:rPr sz="1400" b="1" i="0">
                          <a:latin typeface="Times New Roman"/>
                          <a:cs typeface="Times New Roman"/>
                        </a:rPr>
                        <a:t>Objective</a:t>
                      </a:r>
                    </a:p>
                  </a:txBody>
                  <a:tcPr marL="45720" marR="45720" marT="22860" marB="22860"/>
                </a:tc>
                <a:tc>
                  <a:txBody>
                    <a:bodyPr wrap="square"/>
                    <a:lstStyle/>
                    <a:p>
                      <a:r>
                        <a:rPr sz="1400" b="1" i="0">
                          <a:latin typeface="Times New Roman"/>
                          <a:cs typeface="Times New Roman"/>
                        </a:rPr>
                        <a:t>Methodology</a:t>
                      </a:r>
                    </a:p>
                  </a:txBody>
                  <a:tcPr marL="45720" marR="45720" marT="22860" marB="22860"/>
                </a:tc>
                <a:tc>
                  <a:txBody>
                    <a:bodyPr wrap="square"/>
                    <a:lstStyle/>
                    <a:p>
                      <a:r>
                        <a:rPr sz="1400" b="1" i="0">
                          <a:latin typeface="Times New Roman"/>
                          <a:cs typeface="Times New Roman"/>
                        </a:rPr>
                        <a:t>Pros / Cons</a:t>
                      </a:r>
                    </a:p>
                  </a:txBody>
                  <a:tcPr marL="45720" marR="45720" marT="22860" marB="22860"/>
                </a:tc>
                <a:tc>
                  <a:txBody>
                    <a:bodyPr wrap="square"/>
                    <a:lstStyle/>
                    <a:p>
                      <a:r>
                        <a:rPr sz="1400" b="1" i="0">
                          <a:latin typeface="Times New Roman"/>
                          <a:cs typeface="Times New Roman"/>
                        </a:rPr>
                        <a:t>Findings for this project</a:t>
                      </a:r>
                    </a:p>
                  </a:txBody>
                  <a:tcPr marL="45720" marR="45720" marT="22860" marB="22860"/>
                </a:tc>
              </a:tr>
              <a:tr h="685800">
                <a:tc>
                  <a:txBody>
                    <a:bodyPr wrap="square"/>
                    <a:lstStyle/>
                    <a:p>
                      <a:r>
                        <a:rPr sz="1400" b="0" i="0">
                          <a:latin typeface="Times New Roman"/>
                          <a:cs typeface="Times New Roman"/>
                        </a:rPr>
                        <a:t>WebDreamer [19] (TMLR 2025), Chae et al. [20] (ICLR 2025)</a:t>
                      </a:r>
                    </a:p>
                  </a:txBody>
                  <a:tcPr marL="45720" marR="45720" marT="22860" marB="22860"/>
                </a:tc>
                <a:tc>
                  <a:txBody>
                    <a:bodyPr wrap="square"/>
                    <a:lstStyle/>
                    <a:p>
                      <a:r>
                        <a:rPr sz="1400" b="0" i="0">
                          <a:latin typeface="Times New Roman"/>
                          <a:cs typeface="Times New Roman"/>
                        </a:rPr>
                        <a:t>Predict the outcome of web actions (world models)</a:t>
                      </a:r>
                    </a:p>
                  </a:txBody>
                  <a:tcPr marL="45720" marR="45720" marT="22860" marB="22860"/>
                </a:tc>
                <a:tc>
                  <a:txBody>
                    <a:bodyPr wrap="square"/>
                    <a:lstStyle/>
                    <a:p>
                      <a:r>
                        <a:rPr sz="1400" b="0" i="0">
                          <a:latin typeface="Times New Roman"/>
                          <a:cs typeface="Times New Roman"/>
                        </a:rPr>
                        <a:t>LLM simulates candidate actions; trained model predicts page changes</a:t>
                      </a:r>
                    </a:p>
                  </a:txBody>
                  <a:tcPr marL="45720" marR="45720" marT="22860" marB="22860"/>
                </a:tc>
                <a:tc>
                  <a:txBody>
                    <a:bodyPr wrap="square"/>
                    <a:lstStyle/>
                    <a:p>
                      <a:r>
                        <a:rPr sz="1400" b="0" i="0">
                          <a:latin typeface="Times New Roman"/>
                          <a:cs typeface="Times New Roman"/>
                        </a:rPr>
                        <a:t>+ Look-ahead planning</a:t>
                      </a:r>
                      <a:br/>
                      <a:r>
                        <a:rPr sz="1400" b="0" i="0">
                          <a:latin typeface="Times New Roman"/>
                          <a:cs typeface="Times New Roman"/>
                        </a:rPr>
                        <a:t>- Natural-language outcomes, one call per prediction</a:t>
                      </a:r>
                    </a:p>
                  </a:txBody>
                  <a:tcPr marL="45720" marR="45720" marT="22860" marB="22860"/>
                </a:tc>
                <a:tc>
                  <a:txBody>
                    <a:bodyPr wrap="square"/>
                    <a:lstStyle/>
                    <a:p>
                      <a:r>
                        <a:rPr sz="1400" b="0" i="0">
                          <a:latin typeface="Times New Roman"/>
                          <a:cs typeface="Times New Roman"/>
                        </a:rPr>
                        <a:t>Our model is symbolic, checked against the screen and free to query</a:t>
                      </a:r>
                    </a:p>
                  </a:txBody>
                  <a:tcPr marL="45720" marR="45720" marT="22860" marB="22860"/>
                </a:tc>
              </a:tr>
              <a:tr h="685800">
                <a:tc>
                  <a:txBody>
                    <a:bodyPr wrap="square"/>
                    <a:lstStyle/>
                    <a:p>
                      <a:r>
                        <a:rPr sz="1400" b="0" i="0">
                          <a:latin typeface="Times New Roman"/>
                          <a:cs typeface="Times New Roman"/>
                        </a:rPr>
                        <a:t>WorldCoder [21] (NeurIPS 2024), Guan et al. [22] (NeurIPS 2023)</a:t>
                      </a:r>
                    </a:p>
                  </a:txBody>
                  <a:tcPr marL="45720" marR="45720" marT="22860" marB="22860"/>
                </a:tc>
                <a:tc>
                  <a:txBody>
                    <a:bodyPr wrap="square"/>
                    <a:lstStyle/>
                    <a:p>
                      <a:r>
                        <a:rPr sz="1400" b="0" i="0">
                          <a:latin typeface="Times New Roman"/>
                          <a:cs typeface="Times New Roman"/>
                        </a:rPr>
                        <a:t>Build a world model as code or a PDDL domain</a:t>
                      </a:r>
                    </a:p>
                  </a:txBody>
                  <a:tcPr marL="45720" marR="45720" marT="22860" marB="22860"/>
                </a:tc>
                <a:tc>
                  <a:txBody>
                    <a:bodyPr wrap="square"/>
                    <a:lstStyle/>
                    <a:p>
                      <a:r>
                        <a:rPr sz="1400" b="0" i="0">
                          <a:latin typeface="Times New Roman"/>
                          <a:cs typeface="Times New Roman"/>
                        </a:rPr>
                        <a:t>Program written from interaction; LLM-written domain corrected by humans</a:t>
                      </a:r>
                    </a:p>
                  </a:txBody>
                  <a:tcPr marL="45720" marR="45720" marT="22860" marB="22860"/>
                </a:tc>
                <a:tc>
                  <a:txBody>
                    <a:bodyPr wrap="square"/>
                    <a:lstStyle/>
                    <a:p>
                      <a:r>
                        <a:rPr sz="1400" b="0" i="0">
                          <a:latin typeface="Times New Roman"/>
                          <a:cs typeface="Times New Roman"/>
                        </a:rPr>
                        <a:t>+ Executable and plannable</a:t>
                      </a:r>
                      <a:br/>
                      <a:r>
                        <a:rPr sz="1400" b="0" i="0">
                          <a:latin typeface="Times New Roman"/>
                          <a:cs typeface="Times New Roman"/>
                        </a:rPr>
                        <a:t>- Not learned from GUI pixels</a:t>
                      </a:r>
                    </a:p>
                  </a:txBody>
                  <a:tcPr marL="45720" marR="45720" marT="22860" marB="22860"/>
                </a:tc>
                <a:tc>
                  <a:txBody>
                    <a:bodyPr wrap="square"/>
                    <a:lstStyle/>
                    <a:p>
                      <a:r>
                        <a:rPr sz="1400" b="0" i="0">
                          <a:latin typeface="Times New Roman"/>
                          <a:cs typeface="Times New Roman"/>
                        </a:rPr>
                        <a:t>Plannable models are feasible; we learn ours from pixels</a:t>
                      </a:r>
                    </a:p>
                  </a:txBody>
                  <a:tcPr marL="45720" marR="45720" marT="22860" marB="22860"/>
                </a:tc>
              </a:tr>
              <a:tr h="685800">
                <a:tc>
                  <a:txBody>
                    <a:bodyPr wrap="square"/>
                    <a:lstStyle/>
                    <a:p>
                      <a:r>
                        <a:rPr sz="1400" b="0" i="0">
                          <a:latin typeface="Times New Roman"/>
                          <a:cs typeface="Times New Roman"/>
                        </a:rPr>
                        <a:t>ARMS [23], LOCM [24], FAMA [25], SAM [26] (2007-2021)</a:t>
                      </a:r>
                    </a:p>
                  </a:txBody>
                  <a:tcPr marL="45720" marR="45720" marT="22860" marB="22860"/>
                </a:tc>
                <a:tc>
                  <a:txBody>
                    <a:bodyPr wrap="square"/>
                    <a:lstStyle/>
                    <a:p>
                      <a:r>
                        <a:rPr sz="1400" b="0" i="0">
                          <a:latin typeface="Times New Roman"/>
                          <a:cs typeface="Times New Roman"/>
                        </a:rPr>
                        <a:t>Learn planning action models from traces</a:t>
                      </a:r>
                    </a:p>
                  </a:txBody>
                  <a:tcPr marL="45720" marR="45720" marT="22860" marB="22860"/>
                </a:tc>
                <a:tc>
                  <a:txBody>
                    <a:bodyPr wrap="square"/>
                    <a:lstStyle/>
                    <a:p>
                      <a:r>
                        <a:rPr sz="1400" b="0" i="0">
                          <a:latin typeface="Times New Roman"/>
                          <a:cs typeface="Times New Roman"/>
                        </a:rPr>
                        <a:t>Weighted MAX-SAT; object-centred state machines; compilation to planning; safe learning</a:t>
                      </a:r>
                    </a:p>
                  </a:txBody>
                  <a:tcPr marL="45720" marR="45720" marT="22860" marB="22860"/>
                </a:tc>
                <a:tc>
                  <a:txBody>
                    <a:bodyPr wrap="square"/>
                    <a:lstStyle/>
                    <a:p>
                      <a:r>
                        <a:rPr sz="1400" b="0" i="0">
                          <a:latin typeface="Times New Roman"/>
                          <a:cs typeface="Times New Roman"/>
                        </a:rPr>
                        <a:t>+ Formal, some with guarantees</a:t>
                      </a:r>
                      <a:br/>
                      <a:r>
                        <a:rPr sz="1400" b="0" i="0">
                          <a:latin typeface="Times New Roman"/>
                          <a:cs typeface="Times New Roman"/>
                        </a:rPr>
                        <a:t>- Assume a given predicate vocabulary</a:t>
                      </a:r>
                    </a:p>
                  </a:txBody>
                  <a:tcPr marL="45720" marR="45720" marT="22860" marB="22860"/>
                </a:tc>
                <a:tc>
                  <a:txBody>
                    <a:bodyPr wrap="square"/>
                    <a:lstStyle/>
                    <a:p>
                      <a:r>
                        <a:rPr sz="1400" b="0" i="0">
                          <a:latin typeface="Times New Roman"/>
                          <a:cs typeface="Times New Roman"/>
                        </a:rPr>
                        <a:t>In a GUI the vocabulary must be read from pixels and scoped to sections</a:t>
                      </a:r>
                    </a:p>
                  </a:txBody>
                  <a:tcPr marL="45720" marR="45720" marT="22860" marB="22860"/>
                </a:tc>
              </a:tr>
              <a:tr h="685800">
                <a:tc>
                  <a:txBody>
                    <a:bodyPr wrap="square"/>
                    <a:lstStyle/>
                    <a:p>
                      <a:r>
                        <a:rPr sz="1400" b="0" i="0">
                          <a:latin typeface="Times New Roman"/>
                          <a:cs typeface="Times New Roman"/>
                        </a:rPr>
                        <a:t>OLAM [27] (IJCAI 2021), Verma et al. [28] (AAAI 2021)</a:t>
                      </a:r>
                    </a:p>
                  </a:txBody>
                  <a:tcPr marL="45720" marR="45720" marT="22860" marB="22860"/>
                </a:tc>
                <a:tc>
                  <a:txBody>
                    <a:bodyPr wrap="square"/>
                    <a:lstStyle/>
                    <a:p>
                      <a:r>
                        <a:rPr sz="1400" b="0" i="0">
                          <a:latin typeface="Times New Roman"/>
                          <a:cs typeface="Times New Roman"/>
                        </a:rPr>
                        <a:t>Learn action models online or by querying the agent</a:t>
                      </a:r>
                    </a:p>
                  </a:txBody>
                  <a:tcPr marL="45720" marR="45720" marT="22860" marB="22860"/>
                </a:tc>
                <a:tc>
                  <a:txBody>
                    <a:bodyPr wrap="square"/>
                    <a:lstStyle/>
                    <a:p>
                      <a:r>
                        <a:rPr sz="1400" b="0" i="0">
                          <a:latin typeface="Times New Roman"/>
                          <a:cs typeface="Times New Roman"/>
                        </a:rPr>
                        <a:t>Exploratory plans that yield informative traces; query answering</a:t>
                      </a:r>
                    </a:p>
                  </a:txBody>
                  <a:tcPr marL="45720" marR="45720" marT="22860" marB="22860"/>
                </a:tc>
                <a:tc>
                  <a:txBody>
                    <a:bodyPr wrap="square"/>
                    <a:lstStyle/>
                    <a:p>
                      <a:r>
                        <a:rPr sz="1400" b="0" i="0">
                          <a:latin typeface="Times New Roman"/>
                          <a:cs typeface="Times New Roman"/>
                        </a:rPr>
                        <a:t>+ Active learning of the model</a:t>
                      </a:r>
                      <a:br/>
                      <a:r>
                        <a:rPr sz="1400" b="0" i="0">
                          <a:latin typeface="Times New Roman"/>
                          <a:cs typeface="Times New Roman"/>
                        </a:rPr>
                        <a:t>- Symbolic domains, not screenshots</a:t>
                      </a:r>
                    </a:p>
                  </a:txBody>
                  <a:tcPr marL="45720" marR="45720" marT="22860" marB="22860"/>
                </a:tc>
                <a:tc>
                  <a:txBody>
                    <a:bodyPr wrap="square"/>
                    <a:lstStyle/>
                    <a:p>
                      <a:r>
                        <a:rPr sz="1400" b="0" i="0">
                          <a:latin typeface="Times New Roman"/>
                          <a:cs typeface="Times New Roman"/>
                        </a:rPr>
                        <a:t>Motivates our interventions: ablated replays of the agent's own runs</a:t>
                      </a:r>
                    </a:p>
                  </a:txBody>
                  <a:tcPr marL="45720" marR="45720" marT="22860" marB="22860"/>
                </a:tc>
              </a:tr>
              <a:tr h="685800">
                <a:tc>
                  <a:txBody>
                    <a:bodyPr wrap="square"/>
                    <a:lstStyle/>
                    <a:p>
                      <a:r>
                        <a:rPr sz="1400" b="0" i="0">
                          <a:latin typeface="Times New Roman"/>
                          <a:cs typeface="Times New Roman"/>
                        </a:rPr>
                        <a:t>GUI ripping [17] (WCRE 2003), Stoat [18] (ESEC/FSE 2017)</a:t>
                      </a:r>
                    </a:p>
                  </a:txBody>
                  <a:tcPr marL="45720" marR="45720" marT="22860" marB="22860"/>
                </a:tc>
                <a:tc>
                  <a:txBody>
                    <a:bodyPr wrap="square"/>
                    <a:lstStyle/>
                    <a:p>
                      <a:r>
                        <a:rPr sz="1400" b="0" i="0">
                          <a:latin typeface="Times New Roman"/>
                          <a:cs typeface="Times New Roman"/>
                        </a:rPr>
                        <a:t>Build GUI models for testing</a:t>
                      </a:r>
                    </a:p>
                  </a:txBody>
                  <a:tcPr marL="45720" marR="45720" marT="22860" marB="22860"/>
                </a:tc>
                <a:tc>
                  <a:txBody>
                    <a:bodyPr wrap="square"/>
                    <a:lstStyle/>
                    <a:p>
                      <a:r>
                        <a:rPr sz="1400" b="0" i="0">
                          <a:latin typeface="Times New Roman"/>
                          <a:cs typeface="Times New Roman"/>
                        </a:rPr>
                        <a:t>Systematic GUI exploration; stochastic model of Android apps</a:t>
                      </a:r>
                    </a:p>
                  </a:txBody>
                  <a:tcPr marL="45720" marR="45720" marT="22860" marB="22860"/>
                </a:tc>
                <a:tc>
                  <a:txBody>
                    <a:bodyPr wrap="square"/>
                    <a:lstStyle/>
                    <a:p>
                      <a:r>
                        <a:rPr sz="1400" b="0" i="0">
                          <a:latin typeface="Times New Roman"/>
                          <a:cs typeface="Times New Roman"/>
                        </a:rPr>
                        <a:t>+ Long-established model inference</a:t>
                      </a:r>
                      <a:br/>
                      <a:r>
                        <a:rPr sz="1400" b="0" i="0">
                          <a:latin typeface="Times New Roman"/>
                          <a:cs typeface="Times New Roman"/>
                        </a:rPr>
                        <a:t>- Models used for testing, not goal planning</a:t>
                      </a:r>
                    </a:p>
                  </a:txBody>
                  <a:tcPr marL="45720" marR="45720" marT="22860" marB="22860"/>
                </a:tc>
                <a:tc>
                  <a:txBody>
                    <a:bodyPr wrap="square"/>
                    <a:lstStyle/>
                    <a:p>
                      <a:r>
                        <a:rPr sz="1400" b="0" i="0">
                          <a:latin typeface="Times New Roman"/>
                          <a:cs typeface="Times New Roman"/>
                        </a:rPr>
                        <a:t>We plan towards user goals with the learned model</a:t>
                      </a:r>
                    </a:p>
                  </a:txBody>
                  <a:tcPr marL="45720" marR="45720" marT="22860" marB="22860"/>
                </a:tc>
              </a:tr>
            </a:tbl>
          </a:graphicData>
        </a:graphic>
      </p:graphicFrame>
    </p:spTree>
    <p:extLst>
      <p:ext uri="{BB962C8B-B14F-4D97-AF65-F5344CB8AC3E}">
        <p14:creationId xmlns:p14="http://schemas.microsoft.com/office/powerpoint/2010/main" val="857449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FD64C5E-26B3-2EE9-895A-F822E4C49ED0}"/>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A2430A72-466B-CBDE-2F02-635BA91A98AF}"/>
              </a:ext>
            </a:extLst>
          </p:cNvPr>
          <p:cNvSpPr>
            <a:spLocks noGrp="1"/>
          </p:cNvSpPr>
          <p:nvPr>
            <p:ph type="dt" sz="half" idx="10"/>
          </p:nvPr>
        </p:nvSpPr>
        <p:spPr/>
        <p:txBody>
          <a:bodyPr/>
          <a:lstStyle/>
          <a:p>
            <a:r>
              <a:rPr lang="en-IN" smtClean="0"/>
              <a:t>28-10-2026</a:t>
            </a:r>
            <a:endParaRPr lang="en-IN"/>
          </a:p>
        </p:txBody>
      </p:sp>
      <p:sp>
        <p:nvSpPr>
          <p:cNvPr id="5" name="Footer Placeholder 4">
            <a:extLst>
              <a:ext uri="{FF2B5EF4-FFF2-40B4-BE49-F238E27FC236}">
                <a16:creationId xmlns:a16="http://schemas.microsoft.com/office/drawing/2014/main" xmlns=""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D94E3226-1DB1-3A4D-CE37-4A2AD48EF1F1}"/>
              </a:ext>
            </a:extLst>
          </p:cNvPr>
          <p:cNvSpPr>
            <a:spLocks noGrp="1"/>
          </p:cNvSpPr>
          <p:nvPr>
            <p:ph type="sldNum" sz="quarter" idx="12"/>
          </p:nvPr>
        </p:nvSpPr>
        <p:spPr/>
        <p:txBody>
          <a:bodyPr/>
          <a:lstStyle/>
          <a:p>
            <a:fld id="{65201FD4-9D8D-4491-815B-63C7BF4F0034}" type="slidenum">
              <a:rPr lang="en-IN" smtClean="0"/>
              <a:t>6</a:t>
            </a:fld>
            <a:endParaRPr lang="en-IN"/>
          </a:p>
        </p:txBody>
      </p:sp>
      <p:graphicFrame>
        <p:nvGraphicFramePr>
          <p:cNvPr id="7" name="Table 6"/>
          <p:cNvGraphicFramePr>
            <a:graphicFrameLocks noGrp="1"/>
          </p:cNvGraphicFramePr>
          <p:nvPr/>
        </p:nvGraphicFramePr>
        <p:xfrm>
          <a:off x="457200" y="1371600"/>
          <a:ext cx="11247120" cy="4754880"/>
        </p:xfrm>
        <a:graphic>
          <a:graphicData uri="http://schemas.openxmlformats.org/drawingml/2006/table">
            <a:tbl>
              <a:tblPr firstRow="1" bandRow="1">
                <a:tableStyleId>{5C22544A-7EE6-4342-B048-85BDC9FD1C3A}</a:tableStyleId>
              </a:tblPr>
              <a:tblGrid>
                <a:gridCol w="5760720"/>
                <a:gridCol w="5486400"/>
              </a:tblGrid>
              <a:tr h="365760">
                <a:tc>
                  <a:txBody>
                    <a:bodyPr wrap="square"/>
                    <a:lstStyle/>
                    <a:p>
                      <a:r>
                        <a:rPr sz="1500" b="1" i="0">
                          <a:latin typeface="Times New Roman"/>
                          <a:cs typeface="Times New Roman"/>
                        </a:rPr>
                        <a:t>Gap left by the reviewed work</a:t>
                      </a:r>
                    </a:p>
                  </a:txBody>
                  <a:tcPr marL="45720" marR="45720" marT="22860" marB="22860"/>
                </a:tc>
                <a:tc>
                  <a:txBody>
                    <a:bodyPr wrap="square"/>
                    <a:lstStyle/>
                    <a:p>
                      <a:r>
                        <a:rPr sz="1500" b="1" i="0">
                          <a:latin typeface="Times New Roman"/>
                          <a:cs typeface="Times New Roman"/>
                        </a:rPr>
                        <a:t>How this project addresses it</a:t>
                      </a:r>
                    </a:p>
                  </a:txBody>
                  <a:tcPr marL="45720" marR="45720" marT="22860" marB="22860"/>
                </a:tc>
              </a:tr>
              <a:tr h="731520">
                <a:tc>
                  <a:txBody>
                    <a:bodyPr wrap="square"/>
                    <a:lstStyle/>
                    <a:p>
                      <a:r>
                        <a:rPr sz="1400" b="0" i="0">
                          <a:latin typeface="Times New Roman"/>
                          <a:cs typeface="Times New Roman"/>
                        </a:rPr>
                        <a:t>Screenshot agents ask an LLM to decide every step; none learns an explicit model of the application from GUI pixels that runs without the LLM.</a:t>
                      </a:r>
                    </a:p>
                  </a:txBody>
                  <a:tcPr marL="45720" marR="45720" marT="22860" marB="22860"/>
                </a:tc>
                <a:tc>
                  <a:txBody>
                    <a:bodyPr wrap="square"/>
                    <a:lstStyle/>
                    <a:p>
                      <a:r>
                        <a:rPr sz="1400" b="0" i="0">
                          <a:latin typeface="Times New Roman"/>
                          <a:cs typeface="Times New Roman"/>
                        </a:rPr>
                        <a:t>A learned action model of effects and preconditions; the planner executes learned steps with no LLM call.</a:t>
                      </a:r>
                    </a:p>
                  </a:txBody>
                  <a:tcPr marL="45720" marR="45720" marT="22860" marB="22860"/>
                </a:tc>
              </a:tr>
              <a:tr h="731520">
                <a:tc>
                  <a:txBody>
                    <a:bodyPr wrap="square"/>
                    <a:lstStyle/>
                    <a:p>
                      <a:r>
                        <a:rPr sz="1400" b="0" i="0">
                          <a:latin typeface="Times New Roman"/>
                          <a:cs typeface="Times New Roman"/>
                        </a:rPr>
                        <a:t>Exploration memories (notes, workflows, procedures) are natural language read by the LLM, and they accept everything in a successful trace.</a:t>
                      </a:r>
                    </a:p>
                  </a:txBody>
                  <a:tcPr marL="45720" marR="45720" marT="22860" marB="22860"/>
                </a:tc>
                <a:tc>
                  <a:txBody>
                    <a:bodyPr wrap="square"/>
                    <a:lstStyle/>
                    <a:p>
                      <a:r>
                        <a:rPr sz="1400" b="0" i="0">
                          <a:latin typeface="Times New Roman"/>
                          <a:cs typeface="Times New Roman"/>
                        </a:rPr>
                        <a:t>Symbolic rules with support and contradiction counts; a co-occurring fact stays a candidate until an experiment confirms it.</a:t>
                      </a:r>
                    </a:p>
                  </a:txBody>
                  <a:tcPr marL="45720" marR="45720" marT="22860" marB="22860"/>
                </a:tc>
              </a:tr>
              <a:tr h="731520">
                <a:tc>
                  <a:txBody>
                    <a:bodyPr wrap="square"/>
                    <a:lstStyle/>
                    <a:p>
                      <a:r>
                        <a:rPr sz="1400" b="0" i="0">
                          <a:latin typeface="Times New Roman"/>
                          <a:cs typeface="Times New Roman"/>
                        </a:rPr>
                        <a:t>Learned world models for web agents describe outcomes in text, and every prediction needs a model call.</a:t>
                      </a:r>
                    </a:p>
                  </a:txBody>
                  <a:tcPr marL="45720" marR="45720" marT="22860" marB="22860"/>
                </a:tc>
                <a:tc>
                  <a:txBody>
                    <a:bodyPr wrap="square"/>
                    <a:lstStyle/>
                    <a:p>
                      <a:r>
                        <a:rPr sz="1400" b="0" i="0">
                          <a:latin typeface="Times New Roman"/>
                          <a:cs typeface="Times New Roman"/>
                        </a:rPr>
                        <a:t>The model is checked against the screen and costs nothing to query.</a:t>
                      </a:r>
                    </a:p>
                  </a:txBody>
                  <a:tcPr marL="45720" marR="45720" marT="22860" marB="22860"/>
                </a:tc>
              </a:tr>
              <a:tr h="731520">
                <a:tc>
                  <a:txBody>
                    <a:bodyPr wrap="square"/>
                    <a:lstStyle/>
                    <a:p>
                      <a:r>
                        <a:rPr sz="1400" b="0" i="0">
                          <a:latin typeface="Times New Roman"/>
                          <a:cs typeface="Times New Roman"/>
                        </a:rPr>
                        <a:t>Action-model learning in planning assumes the predicate vocabulary is given.</a:t>
                      </a:r>
                    </a:p>
                  </a:txBody>
                  <a:tcPr marL="45720" marR="45720" marT="22860" marB="22860"/>
                </a:tc>
                <a:tc>
                  <a:txBody>
                    <a:bodyPr wrap="square"/>
                    <a:lstStyle/>
                    <a:p>
                      <a:r>
                        <a:rPr sz="1400" b="0" i="0">
                          <a:latin typeface="Times New Roman"/>
                          <a:cs typeface="Times New Roman"/>
                        </a:rPr>
                        <a:t>Facts are read from pixels, scoped to application sections, and tested by intervening on the live interface (ablated replays).</a:t>
                      </a:r>
                    </a:p>
                  </a:txBody>
                  <a:tcPr marL="45720" marR="45720" marT="22860" marB="22860"/>
                </a:tc>
              </a:tr>
              <a:tr h="731520">
                <a:tc>
                  <a:txBody>
                    <a:bodyPr wrap="square"/>
                    <a:lstStyle/>
                    <a:p>
                      <a:r>
                        <a:rPr sz="1400" b="0" i="0">
                          <a:latin typeface="Times New Roman"/>
                          <a:cs typeface="Times New Roman"/>
                        </a:rPr>
                        <a:t>Agents seldom notice when a task cannot be done for the current user; they keep trying or report a false success.</a:t>
                      </a:r>
                    </a:p>
                  </a:txBody>
                  <a:tcPr marL="45720" marR="45720" marT="22860" marB="22860"/>
                </a:tc>
                <a:tc>
                  <a:txBody>
                    <a:bodyPr wrap="square"/>
                    <a:lstStyle/>
                    <a:p>
                      <a:r>
                        <a:rPr sz="1400" b="0" i="0">
                          <a:latin typeface="Times New Roman"/>
                          <a:cs typeface="Times New Roman"/>
                        </a:rPr>
                        <a:t>Unavailability is declared from learned context conditions, such as a missing permission line.</a:t>
                      </a:r>
                    </a:p>
                  </a:txBody>
                  <a:tcPr marL="45720" marR="45720" marT="22860" marB="22860"/>
                </a:tc>
              </a:tr>
              <a:tr h="731520">
                <a:tc>
                  <a:txBody>
                    <a:bodyPr wrap="square"/>
                    <a:lstStyle/>
                    <a:p>
                      <a:r>
                        <a:rPr sz="1400" b="0" i="0">
                          <a:latin typeface="Times New Roman"/>
                          <a:cs typeface="Times New Roman"/>
                        </a:rPr>
                        <a:t>GUI benchmarks score task success, not whether what the agent learned is correct.</a:t>
                      </a:r>
                    </a:p>
                  </a:txBody>
                  <a:tcPr marL="45720" marR="45720" marT="22860" marB="22860"/>
                </a:tc>
                <a:tc>
                  <a:txBody>
                    <a:bodyPr wrap="square"/>
                    <a:lstStyle/>
                    <a:p>
                      <a:r>
                        <a:rPr sz="1400" b="0" i="0">
                          <a:latin typeface="Times New Roman"/>
                          <a:cs typeface="Times New Roman"/>
                        </a:rPr>
                        <a:t>A ground truth derived from perception (272 rendered screens) scores the learned rules themselves.</a:t>
                      </a:r>
                    </a:p>
                  </a:txBody>
                  <a:tcPr marL="45720" marR="45720" marT="22860" marB="22860"/>
                </a:tc>
              </a:tr>
            </a:tbl>
          </a:graphicData>
        </a:graphic>
      </p:graphicFrame>
    </p:spTree>
    <p:extLst>
      <p:ext uri="{BB962C8B-B14F-4D97-AF65-F5344CB8AC3E}">
        <p14:creationId xmlns:p14="http://schemas.microsoft.com/office/powerpoint/2010/main" val="262310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283ADE1-559A-2DC2-A801-6A915E106C60}"/>
              </a:ext>
            </a:extLst>
          </p:cNvPr>
          <p:cNvSpPr>
            <a:spLocks noGrp="1"/>
          </p:cNvSpPr>
          <p:nvPr>
            <p:ph idx="1"/>
          </p:nvPr>
        </p:nvSpPr>
        <p:spPr>
          <a:xfrm>
            <a:off x="457200" y="1325880"/>
            <a:ext cx="11338560" cy="3154680"/>
          </a:xfrm>
        </p:spPr>
        <p:txBody>
          <a:bodyPr wrap="square" anchor="t">
            <a:noAutofit/>
          </a:bodyPr>
          <a:lstStyle/>
          <a:p>
            <a:pPr marL="0" indent="0">
              <a:lnSpc>
                <a:spcPct val="100000"/>
              </a:lnSpc>
              <a:spcBef>
                <a:spcPts val="0"/>
              </a:spcBef>
              <a:spcAft>
                <a:spcPts val="600"/>
              </a:spcAft>
              <a:buNone/>
            </a:pPr>
            <a:r>
              <a:rPr sz="1400" b="1" i="0">
                <a:latin typeface="Times New Roman"/>
                <a:cs typeface="Times New Roman"/>
              </a:rPr>
              <a:t>O1  </a:t>
            </a:r>
            <a:r>
              <a:rPr sz="1400" b="0" i="0">
                <a:latin typeface="Times New Roman"/>
                <a:cs typeface="Times New Roman"/>
              </a:rPr>
              <a:t>Build an API-independent GUI agent for browser and desktop that finds targets only from screenshots and the page URL and acts only through mouse and keyboard.</a:t>
            </a:r>
          </a:p>
          <a:p>
            <a:pPr marL="0" indent="0">
              <a:lnSpc>
                <a:spcPct val="100000"/>
              </a:lnSpc>
              <a:spcBef>
                <a:spcPts val="0"/>
              </a:spcBef>
              <a:spcAft>
                <a:spcPts val="600"/>
              </a:spcAft>
              <a:buNone/>
            </a:pPr>
            <a:r>
              <a:rPr sz="1400" b="1" i="0">
                <a:latin typeface="Times New Roman"/>
                <a:cs typeface="Times New Roman"/>
              </a:rPr>
              <a:t>O2  </a:t>
            </a:r>
            <a:r>
              <a:rPr sz="1400" b="0" i="0">
                <a:latin typeface="Times New Roman"/>
                <a:cs typeface="Times New Roman"/>
              </a:rPr>
              <a:t>Discover an application's states from its pixels as section-scoped facts, including whether each control is available.</a:t>
            </a:r>
          </a:p>
          <a:p>
            <a:pPr marL="0" indent="0">
              <a:lnSpc>
                <a:spcPct val="100000"/>
              </a:lnSpc>
              <a:spcBef>
                <a:spcPts val="0"/>
              </a:spcBef>
              <a:spcAft>
                <a:spcPts val="600"/>
              </a:spcAft>
              <a:buNone/>
            </a:pPr>
            <a:r>
              <a:rPr sz="1400" b="1" i="0">
                <a:latin typeface="Times New Roman"/>
                <a:cs typeface="Times New Roman"/>
              </a:rPr>
              <a:t>O3  </a:t>
            </a:r>
            <a:r>
              <a:rPr sz="1400" b="0" i="0">
                <a:latin typeface="Times New Roman"/>
                <a:cs typeface="Times New Roman"/>
              </a:rPr>
              <a:t>Learn the effects and preconditions of every control the agent uses from its own interaction.</a:t>
            </a:r>
          </a:p>
          <a:p>
            <a:pPr marL="0" indent="0">
              <a:lnSpc>
                <a:spcPct val="100000"/>
              </a:lnSpc>
              <a:spcBef>
                <a:spcPts val="0"/>
              </a:spcBef>
              <a:spcAft>
                <a:spcPts val="600"/>
              </a:spcAft>
              <a:buNone/>
            </a:pPr>
            <a:r>
              <a:rPr sz="1400" b="1" i="0">
                <a:latin typeface="Times New Roman"/>
                <a:cs typeface="Times New Roman"/>
              </a:rPr>
              <a:t>O4  </a:t>
            </a:r>
            <a:r>
              <a:rPr sz="1400" b="0" i="0">
                <a:latin typeface="Times New Roman"/>
                <a:cs typeface="Times New Roman"/>
              </a:rPr>
              <a:t>Design an experiment phase (replays, tours, ablated replays) that confirms or refutes preconditions with no LLM calls.</a:t>
            </a:r>
          </a:p>
          <a:p>
            <a:pPr marL="0" indent="0">
              <a:lnSpc>
                <a:spcPct val="100000"/>
              </a:lnSpc>
              <a:spcBef>
                <a:spcPts val="0"/>
              </a:spcBef>
              <a:spcAft>
                <a:spcPts val="600"/>
              </a:spcAft>
              <a:buNone/>
            </a:pPr>
            <a:r>
              <a:rPr sz="1400" b="1" i="0">
                <a:latin typeface="Times New Roman"/>
                <a:cs typeface="Times New Roman"/>
              </a:rPr>
              <a:t>O5  </a:t>
            </a:r>
            <a:r>
              <a:rPr sz="1400" b="0" i="0">
                <a:latin typeface="Times New Roman"/>
                <a:cs typeface="Times New Roman"/>
              </a:rPr>
              <a:t>Use the learned model to plan, declare tasks unavailable and check every goal part, cutting LLM calls per task.</a:t>
            </a:r>
          </a:p>
          <a:p>
            <a:pPr marL="0" indent="0">
              <a:lnSpc>
                <a:spcPct val="100000"/>
              </a:lnSpc>
              <a:spcBef>
                <a:spcPts val="0"/>
              </a:spcBef>
              <a:spcAft>
                <a:spcPts val="600"/>
              </a:spcAft>
              <a:buNone/>
            </a:pPr>
            <a:r>
              <a:rPr sz="1400" b="1" i="0">
                <a:latin typeface="Times New Roman"/>
                <a:cs typeface="Times New Roman"/>
              </a:rPr>
              <a:t>O6  </a:t>
            </a:r>
            <a:r>
              <a:rPr sz="1400" b="0" i="0">
                <a:latin typeface="Times New Roman"/>
                <a:cs typeface="Times New Roman"/>
              </a:rPr>
              <a:t>Build a benchmark (held-out, composition, layout-shift, unavailable, unseen-app tasks) with a perception-derived ground truth; evaluate over three seeds.</a:t>
            </a:r>
          </a:p>
          <a:p>
            <a:pPr marL="0" indent="0">
              <a:lnSpc>
                <a:spcPct val="100000"/>
              </a:lnSpc>
              <a:spcBef>
                <a:spcPts val="0"/>
              </a:spcBef>
              <a:spcAft>
                <a:spcPts val="600"/>
              </a:spcAft>
              <a:buNone/>
            </a:pPr>
            <a:r>
              <a:rPr sz="1400" b="1" i="0">
                <a:latin typeface="Times New Roman"/>
                <a:cs typeface="Times New Roman"/>
              </a:rPr>
              <a:t>Status: all six objectives met. </a:t>
            </a:r>
            <a:r>
              <a:rPr sz="1400" b="0" i="0">
                <a:latin typeface="Times New Roman"/>
                <a:cs typeface="Times New Roman"/>
              </a:rPr>
              <a:t>Changed since Review 2: the real-application case study and comparison with external memory baselines moved to future work; the planned inspection interface became a read-only run viewer.</a:t>
            </a:r>
          </a:p>
        </p:txBody>
      </p:sp>
      <p:sp>
        <p:nvSpPr>
          <p:cNvPr id="4" name="object 2">
            <a:extLst>
              <a:ext uri="{FF2B5EF4-FFF2-40B4-BE49-F238E27FC236}">
                <a16:creationId xmlns:a16="http://schemas.microsoft.com/office/drawing/2014/main" xmlns=""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1BE4F0EB-E8F1-14D8-E22A-38E83F9BFA94}"/>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xmlns="" id="{36180A9B-AA72-E2D6-8362-4CDF7058D84A}"/>
              </a:ext>
            </a:extLst>
          </p:cNvPr>
          <p:cNvPicPr>
            <a:picLocks noChangeAspect="1"/>
          </p:cNvPicPr>
          <p:nvPr/>
        </p:nvPicPr>
        <p:blipFill>
          <a:blip r:embed="rId2"/>
          <a:stretch>
            <a:fillRect/>
          </a:stretch>
        </p:blipFill>
        <p:spPr>
          <a:xfrm>
            <a:off x="548640" y="4572000"/>
            <a:ext cx="1600200" cy="1280160"/>
          </a:xfrm>
          <a:prstGeom prst="rect">
            <a:avLst/>
          </a:prstGeom>
        </p:spPr>
      </p:pic>
      <p:pic>
        <p:nvPicPr>
          <p:cNvPr id="9" name="Picture 8" descr="What are Technology Readiness Levels (TRL)? - TWI">
            <a:extLst>
              <a:ext uri="{FF2B5EF4-FFF2-40B4-BE49-F238E27FC236}">
                <a16:creationId xmlns:a16="http://schemas.microsoft.com/office/drawing/2014/main" xmlns="" id="{D1491C9C-07B3-89C3-5FA0-72C9F44F30AC}"/>
              </a:ext>
            </a:extLst>
          </p:cNvPr>
          <p:cNvPicPr>
            <a:picLocks noChangeAspect="1"/>
          </p:cNvPicPr>
          <p:nvPr/>
        </p:nvPicPr>
        <p:blipFill>
          <a:blip r:embed="rId3"/>
          <a:stretch>
            <a:fillRect/>
          </a:stretch>
        </p:blipFill>
        <p:spPr>
          <a:xfrm>
            <a:off x="2377440" y="4526280"/>
            <a:ext cx="1508760" cy="1371600"/>
          </a:xfrm>
          <a:prstGeom prst="rect">
            <a:avLst/>
          </a:prstGeom>
        </p:spPr>
      </p:pic>
      <p:sp>
        <p:nvSpPr>
          <p:cNvPr id="10" name="TextBox 9"/>
          <p:cNvSpPr txBox="1"/>
          <p:nvPr/>
        </p:nvSpPr>
        <p:spPr>
          <a:xfrm>
            <a:off x="4114800" y="4480560"/>
            <a:ext cx="7772400" cy="1737360"/>
          </a:xfrm>
          <a:prstGeom prst="rect">
            <a:avLst/>
          </a:prstGeom>
          <a:noFill/>
        </p:spPr>
        <p:txBody>
          <a:bodyPr wrap="square" lIns="45720" rIns="45720" tIns="27432" bIns="27432" anchor="t">
            <a:noAutofit/>
          </a:bodyPr>
          <a:lstStyle/>
          <a:p>
            <a:pPr marL="0" indent="0">
              <a:lnSpc>
                <a:spcPct val="100000"/>
              </a:lnSpc>
              <a:spcBef>
                <a:spcPts val="0"/>
              </a:spcBef>
              <a:spcAft>
                <a:spcPts val="400"/>
              </a:spcAft>
              <a:buNone/>
            </a:pPr>
            <a:r>
              <a:rPr sz="1200" b="1" i="0">
                <a:latin typeface="Times New Roman"/>
                <a:cs typeface="Times New Roman"/>
              </a:rPr>
              <a:t>Identified Sustainable Development Goals (unchanged): </a:t>
            </a:r>
            <a:r>
              <a:rPr sz="1200" b="0" i="0">
                <a:latin typeface="Times New Roman"/>
                <a:cs typeface="Times New Roman"/>
              </a:rPr>
              <a:t>SDG 8 Decent Work and Economic Growth  |  SDG 9 Industry, Innovation and Infrastructure  |  SDG 12 Responsible Consumption and Production</a:t>
            </a:r>
          </a:p>
          <a:p>
            <a:pPr marL="0" indent="0">
              <a:lnSpc>
                <a:spcPct val="100000"/>
              </a:lnSpc>
              <a:spcBef>
                <a:spcPts val="0"/>
              </a:spcBef>
              <a:spcAft>
                <a:spcPts val="400"/>
              </a:spcAft>
              <a:buNone/>
            </a:pPr>
            <a:r>
              <a:rPr sz="1200" b="1" i="0">
                <a:latin typeface="Times New Roman"/>
                <a:cs typeface="Times New Roman"/>
              </a:rPr>
              <a:t>Technology Readiness Level: TRL 4, technology validated in the laboratory. </a:t>
            </a:r>
            <a:r>
              <a:rPr sz="1200" b="0" i="0">
                <a:latin typeface="Times New Roman"/>
                <a:cs typeface="Times New Roman"/>
              </a:rPr>
              <a:t>The full evaluation (423 task runs and two ablations) ran on the lab benchmark; on real software only the disabled-control check was measured (Gitea screenshots).</a:t>
            </a:r>
          </a:p>
          <a:p>
            <a:pPr marL="0" indent="0">
              <a:lnSpc>
                <a:spcPct val="100000"/>
              </a:lnSpc>
              <a:spcBef>
                <a:spcPts val="0"/>
              </a:spcBef>
              <a:spcAft>
                <a:spcPts val="400"/>
              </a:spcAft>
              <a:buNone/>
            </a:pPr>
            <a:r>
              <a:rPr sz="1200" b="1" i="0">
                <a:latin typeface="Times New Roman"/>
                <a:cs typeface="Times New Roman"/>
              </a:rPr>
              <a:t>Outcome: </a:t>
            </a:r>
            <a:r>
              <a:rPr sz="1200" b="0" i="0">
                <a:latin typeface="Times New Roman"/>
                <a:cs typeface="Times New Roman"/>
              </a:rPr>
              <a:t>Conference paper submitted to ISAS 2026 (double-blind review). Patent / Start-up / Product: Nil.</a:t>
            </a:r>
          </a:p>
        </p:txBody>
      </p:sp>
    </p:spTree>
    <p:extLst>
      <p:ext uri="{BB962C8B-B14F-4D97-AF65-F5344CB8AC3E}">
        <p14:creationId xmlns:p14="http://schemas.microsoft.com/office/powerpoint/2010/main" val="23359624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3B40592E-46EE-B4F2-7D01-D3568C2F685A}"/>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57200" y="1371600"/>
            <a:ext cx="6035040" cy="4754880"/>
          </a:xfrm>
          <a:prstGeom prst="rect">
            <a:avLst/>
          </a:prstGeom>
          <a:noFill/>
        </p:spPr>
        <p:txBody>
          <a:bodyPr wrap="square" lIns="45720" rIns="45720" tIns="27432" bIns="27432" anchor="t">
            <a:noAutofit/>
          </a:bodyPr>
          <a:lstStyle/>
          <a:p>
            <a:pPr marL="0" indent="0">
              <a:lnSpc>
                <a:spcPct val="100000"/>
              </a:lnSpc>
              <a:spcBef>
                <a:spcPts val="0"/>
              </a:spcBef>
              <a:spcAft>
                <a:spcPts val="900"/>
              </a:spcAft>
              <a:buNone/>
            </a:pPr>
            <a:r>
              <a:rPr sz="1400" b="1" i="0">
                <a:latin typeface="Times New Roman"/>
                <a:cs typeface="Times New Roman"/>
              </a:rPr>
              <a:t>A closed perceive - learn - decide - act loop</a:t>
            </a:r>
          </a:p>
          <a:p>
            <a:pPr marL="228600" indent="-228600">
              <a:lnSpc>
                <a:spcPct val="100000"/>
              </a:lnSpc>
              <a:spcBef>
                <a:spcPts val="0"/>
              </a:spcBef>
              <a:spcAft>
                <a:spcPts val="900"/>
              </a:spcAft>
              <a:buFont typeface="Arial"/>
              <a:buChar char="•"/>
            </a:pPr>
            <a:r>
              <a:rPr sz="1400" b="1" i="0">
                <a:latin typeface="Times New Roman"/>
                <a:cs typeface="Times New Roman"/>
              </a:rPr>
              <a:t>1  Perception (each step): </a:t>
            </a:r>
            <a:r>
              <a:rPr sz="1400" b="0" i="0">
                <a:latin typeface="Times New Roman"/>
                <a:cs typeface="Times New Roman"/>
              </a:rPr>
              <a:t>screenshot and URL; OmniParser detector and RapidOCR; pixel-contrast check for disabled controls; Gemini refinement only when a target is uncertain.</a:t>
            </a:r>
          </a:p>
          <a:p>
            <a:pPr marL="228600" indent="-228600">
              <a:lnSpc>
                <a:spcPct val="100000"/>
              </a:lnSpc>
              <a:spcBef>
                <a:spcPts val="0"/>
              </a:spcBef>
              <a:spcAft>
                <a:spcPts val="900"/>
              </a:spcAft>
              <a:buFont typeface="Arial"/>
              <a:buChar char="•"/>
            </a:pPr>
            <a:r>
              <a:rPr sz="1400" b="1" i="0">
                <a:latin typeface="Times New Roman"/>
                <a:cs typeface="Times New Roman"/>
              </a:rPr>
              <a:t>2  Knowledge (no LLM calls): </a:t>
            </a:r>
            <a:r>
              <a:rPr sz="1400" b="0" i="0">
                <a:latin typeface="Times New Roman"/>
                <a:cs typeface="Times New Roman"/>
              </a:rPr>
              <a:t>section-scoped facts and a belief state; the learned action model, refined by the experiment phase.</a:t>
            </a:r>
          </a:p>
          <a:p>
            <a:pPr marL="228600" indent="-228600">
              <a:lnSpc>
                <a:spcPct val="100000"/>
              </a:lnSpc>
              <a:spcBef>
                <a:spcPts val="0"/>
              </a:spcBef>
              <a:spcAft>
                <a:spcPts val="900"/>
              </a:spcAft>
              <a:buFont typeface="Arial"/>
              <a:buChar char="•"/>
            </a:pPr>
            <a:r>
              <a:rPr sz="1400" b="1" i="0">
                <a:latin typeface="Times New Roman"/>
                <a:cs typeface="Times New Roman"/>
              </a:rPr>
              <a:t>3  Decision: </a:t>
            </a:r>
            <a:r>
              <a:rPr sz="1400" b="0" i="0">
                <a:latin typeface="Times New Roman"/>
                <a:cs typeface="Times New Roman"/>
              </a:rPr>
              <a:t>goal compiler (one Gemini call per task), then the learned-model planner, then the local Laya model; the Gemini policy is only the fallback.</a:t>
            </a:r>
          </a:p>
          <a:p>
            <a:pPr marL="228600" indent="-228600">
              <a:lnSpc>
                <a:spcPct val="100000"/>
              </a:lnSpc>
              <a:spcBef>
                <a:spcPts val="0"/>
              </a:spcBef>
              <a:spcAft>
                <a:spcPts val="900"/>
              </a:spcAft>
              <a:buFont typeface="Arial"/>
              <a:buChar char="•"/>
            </a:pPr>
            <a:r>
              <a:rPr sz="1400" b="1" i="0">
                <a:latin typeface="Times New Roman"/>
                <a:cs typeface="Times New Roman"/>
              </a:rPr>
              <a:t>4  Action and memory: </a:t>
            </a:r>
            <a:r>
              <a:rPr sz="1400" b="0" i="0">
                <a:latin typeface="Times New Roman"/>
                <a:cs typeface="Times New Roman"/>
              </a:rPr>
              <a:t>mouse and keyboard at pixel coordinates, verification of the result, SQLite run log; every outcome is fed back to learning.</a:t>
            </a:r>
          </a:p>
          <a:p>
            <a:pPr marL="0" indent="0">
              <a:lnSpc>
                <a:spcPct val="100000"/>
              </a:lnSpc>
              <a:spcBef>
                <a:spcPts val="0"/>
              </a:spcBef>
              <a:spcAft>
                <a:spcPts val="900"/>
              </a:spcAft>
              <a:buNone/>
            </a:pPr>
            <a:r>
              <a:rPr sz="1400" b="0" i="0">
                <a:latin typeface="Times New Roman"/>
                <a:cs typeface="Times New Roman"/>
              </a:rPr>
              <a:t>Blue: learning components (no LLM).  Orange: Gemini calls.  Dashed: the target application, reached only through pixels and input events.</a:t>
            </a:r>
          </a:p>
        </p:txBody>
      </p:sp>
      <p:pic>
        <p:nvPicPr>
          <p:cNvPr id="8" name="System architecture of the Vision GUI Agent" descr="System architecture of the Vision GUI Agent"/>
          <p:cNvPicPr>
            <a:picLocks noChangeAspect="1"/>
          </p:cNvPicPr>
          <p:nvPr/>
        </p:nvPicPr>
        <p:blipFill>
          <a:blip r:embed="rId2"/>
          <a:stretch>
            <a:fillRect/>
          </a:stretch>
        </p:blipFill>
        <p:spPr>
          <a:xfrm>
            <a:off x="6812280" y="1188720"/>
            <a:ext cx="4691193" cy="5074920"/>
          </a:xfrm>
          <a:prstGeom prst="rect">
            <a:avLst/>
          </a:prstGeom>
        </p:spPr>
      </p:pic>
    </p:spTree>
    <p:extLst>
      <p:ext uri="{BB962C8B-B14F-4D97-AF65-F5344CB8AC3E}">
        <p14:creationId xmlns:p14="http://schemas.microsoft.com/office/powerpoint/2010/main" val="63813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 Experiment Phase (no LLM calls)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3B40592E-46EE-B4F2-7D01-D3568C2F685A}"/>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pic>
        <p:nvPicPr>
          <p:cNvPr id="7" name="Experiment phase: reference replays, tours and ablated replays" descr="Experiment phase: reference replays, tours and ablated replays"/>
          <p:cNvPicPr>
            <a:picLocks noChangeAspect="1"/>
          </p:cNvPicPr>
          <p:nvPr/>
        </p:nvPicPr>
        <p:blipFill>
          <a:blip r:embed="rId2"/>
          <a:stretch>
            <a:fillRect/>
          </a:stretch>
        </p:blipFill>
        <p:spPr>
          <a:xfrm>
            <a:off x="365760" y="1371600"/>
            <a:ext cx="6949440" cy="4837131"/>
          </a:xfrm>
          <a:prstGeom prst="rect">
            <a:avLst/>
          </a:prstGeom>
        </p:spPr>
      </p:pic>
      <p:sp>
        <p:nvSpPr>
          <p:cNvPr id="8" name="TextBox 7"/>
          <p:cNvSpPr txBox="1"/>
          <p:nvPr/>
        </p:nvSpPr>
        <p:spPr>
          <a:xfrm>
            <a:off x="7543800" y="1371600"/>
            <a:ext cx="4343400" cy="4846320"/>
          </a:xfrm>
          <a:prstGeom prst="rect">
            <a:avLst/>
          </a:prstGeom>
          <a:noFill/>
        </p:spPr>
        <p:txBody>
          <a:bodyPr wrap="square" lIns="45720" rIns="45720" tIns="27432" bIns="27432" anchor="t">
            <a:noAutofit/>
          </a:bodyPr>
          <a:lstStyle/>
          <a:p>
            <a:pPr marL="228600" indent="-228600">
              <a:lnSpc>
                <a:spcPct val="100000"/>
              </a:lnSpc>
              <a:spcBef>
                <a:spcPts val="0"/>
              </a:spcBef>
              <a:spcAft>
                <a:spcPts val="800"/>
              </a:spcAft>
              <a:buFont typeface="Arial"/>
              <a:buChar char="•"/>
            </a:pPr>
            <a:r>
              <a:rPr sz="1300" b="0" i="0">
                <a:latin typeface="Times New Roman"/>
                <a:cs typeface="Times New Roman"/>
              </a:rPr>
              <a:t>Runs in active mode after an application's exploration tasks, with its own 150-step budget and no goal, policy or LLM call.</a:t>
            </a:r>
          </a:p>
          <a:p>
            <a:pPr marL="228600" indent="-228600">
              <a:lnSpc>
                <a:spcPct val="100000"/>
              </a:lnSpc>
              <a:spcBef>
                <a:spcPts val="0"/>
              </a:spcBef>
              <a:spcAft>
                <a:spcPts val="800"/>
              </a:spcAft>
              <a:buFont typeface="Arial"/>
              <a:buChar char="•"/>
            </a:pPr>
            <a:r>
              <a:rPr sz="1300" b="1" i="0">
                <a:latin typeface="Times New Roman"/>
                <a:cs typeface="Times New Roman"/>
              </a:rPr>
              <a:t>Reference replays: </a:t>
            </a:r>
            <a:r>
              <a:rPr sz="1300" b="0" i="0">
                <a:latin typeface="Times New Roman"/>
                <a:cs typeface="Times New Roman"/>
              </a:rPr>
              <a:t>each recorded run is replayed from its start state; the page is reloaded after every click and only lasting changes count.</a:t>
            </a:r>
          </a:p>
          <a:p>
            <a:pPr marL="228600" indent="-228600">
              <a:lnSpc>
                <a:spcPct val="100000"/>
              </a:lnSpc>
              <a:spcBef>
                <a:spcPts val="0"/>
              </a:spcBef>
              <a:spcAft>
                <a:spcPts val="800"/>
              </a:spcAft>
              <a:buFont typeface="Arial"/>
              <a:buChar char="•"/>
            </a:pPr>
            <a:r>
              <a:rPr sz="1300" b="1" i="0">
                <a:latin typeface="Times New Roman"/>
                <a:cs typeface="Times New Roman"/>
              </a:rPr>
              <a:t>Tours: </a:t>
            </a:r>
            <a:r>
              <a:rPr sz="1300" b="0" i="0">
                <a:latin typeface="Times New Roman"/>
                <a:cs typeface="Times New Roman"/>
              </a:rPr>
              <a:t>sections showing a control believed unavailable are visited, so a change there is credited to one action.</a:t>
            </a:r>
          </a:p>
          <a:p>
            <a:pPr marL="228600" indent="-228600">
              <a:lnSpc>
                <a:spcPct val="100000"/>
              </a:lnSpc>
              <a:spcBef>
                <a:spcPts val="0"/>
              </a:spcBef>
              <a:spcAft>
                <a:spcPts val="800"/>
              </a:spcAft>
              <a:buFont typeface="Arial"/>
              <a:buChar char="•"/>
            </a:pPr>
            <a:r>
              <a:rPr sz="1300" b="1" i="0">
                <a:latin typeface="Times New Roman"/>
                <a:cs typeface="Times New Roman"/>
              </a:rPr>
              <a:t>Ablated replays: </a:t>
            </a:r>
            <a:r>
              <a:rPr sz="1300" b="0" i="0">
                <a:latin typeface="Times New Roman"/>
                <a:cs typeface="Times New Roman"/>
              </a:rPr>
              <a:t>a run is replayed with one step left out and every later action is clicked directly. Success refutes the removed facts; failure with nothing else diverged confirms them as one group.</a:t>
            </a:r>
          </a:p>
          <a:p>
            <a:pPr marL="228600" indent="-228600">
              <a:lnSpc>
                <a:spcPct val="100000"/>
              </a:lnSpc>
              <a:spcBef>
                <a:spcPts val="0"/>
              </a:spcBef>
              <a:spcAft>
                <a:spcPts val="800"/>
              </a:spcAft>
              <a:buFont typeface="Arial"/>
              <a:buChar char="•"/>
            </a:pPr>
            <a:r>
              <a:rPr sz="1300" b="1" i="0">
                <a:latin typeface="Times New Roman"/>
                <a:cs typeface="Times New Roman"/>
              </a:rPr>
              <a:t>Required precondition: </a:t>
            </a:r>
            <a:r>
              <a:rPr sz="1300" b="0" i="0">
                <a:latin typeface="Times New Roman"/>
                <a:cs typeface="Times New Roman"/>
              </a:rPr>
              <a:t>at least 2 supporting observations, 1 or more of them an intervention, and no contradiction. Confidence = (s+1)/(s+k+2).</a:t>
            </a:r>
          </a:p>
        </p:txBody>
      </p:sp>
    </p:spTree>
    <p:extLst>
      <p:ext uri="{BB962C8B-B14F-4D97-AF65-F5344CB8AC3E}">
        <p14:creationId xmlns:p14="http://schemas.microsoft.com/office/powerpoint/2010/main" val="63813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E95AF1-B807-AC15-9C1A-B86677AF63D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D4F25267-3005-EC45-A624-B78484DFA4EC}"/>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57200" y="1325880"/>
          <a:ext cx="11247120" cy="4782312"/>
        </p:xfrm>
        <a:graphic>
          <a:graphicData uri="http://schemas.openxmlformats.org/drawingml/2006/table">
            <a:tbl>
              <a:tblPr firstRow="1" bandRow="1">
                <a:tableStyleId>{5C22544A-7EE6-4342-B048-85BDC9FD1C3A}</a:tableStyleId>
              </a:tblPr>
              <a:tblGrid>
                <a:gridCol w="731520"/>
                <a:gridCol w="10515600"/>
              </a:tblGrid>
              <a:tr h="365760">
                <a:tc>
                  <a:txBody>
                    <a:bodyPr wrap="square"/>
                    <a:lstStyle/>
                    <a:p>
                      <a:r>
                        <a:rPr sz="1300" b="1" i="0">
                          <a:latin typeface="Times New Roman"/>
                          <a:cs typeface="Times New Roman"/>
                        </a:rPr>
                        <a:t>ID</a:t>
                      </a:r>
                    </a:p>
                  </a:txBody>
                  <a:tcPr marL="45720" marR="45720" marT="22860" marB="22860"/>
                </a:tc>
                <a:tc>
                  <a:txBody>
                    <a:bodyPr wrap="square"/>
                    <a:lstStyle/>
                    <a:p>
                      <a:r>
                        <a:rPr sz="1300" b="1" i="0">
                          <a:latin typeface="Times New Roman"/>
                          <a:cs typeface="Times New Roman"/>
                        </a:rPr>
                        <a:t>Functional requirement</a:t>
                      </a:r>
                    </a:p>
                  </a:txBody>
                  <a:tcPr marL="45720" marR="45720" marT="22860" marB="22860"/>
                </a:tc>
              </a:tr>
              <a:tr h="315468">
                <a:tc>
                  <a:txBody>
                    <a:bodyPr wrap="square"/>
                    <a:lstStyle/>
                    <a:p>
                      <a:r>
                        <a:rPr sz="1200" b="1" i="0">
                          <a:latin typeface="Times New Roman"/>
                          <a:cs typeface="Times New Roman"/>
                        </a:rPr>
                        <a:t>FR1</a:t>
                      </a:r>
                    </a:p>
                  </a:txBody>
                  <a:tcPr marL="45720" marR="45720" marT="22860" marB="22860"/>
                </a:tc>
                <a:tc>
                  <a:txBody>
                    <a:bodyPr wrap="square"/>
                    <a:lstStyle/>
                    <a:p>
                      <a:r>
                        <a:rPr sz="1200" b="0" i="0">
                          <a:latin typeface="Times New Roman"/>
                          <a:cs typeface="Times New Roman"/>
                        </a:rPr>
                        <a:t>Accept a natural-language goal with a start URL (browser mode) or operate the visible desktop (desktop mode) from the command line.</a:t>
                      </a:r>
                    </a:p>
                  </a:txBody>
                  <a:tcPr marL="45720" marR="45720" marT="22860" marB="22860"/>
                </a:tc>
              </a:tr>
              <a:tr h="315468">
                <a:tc>
                  <a:txBody>
                    <a:bodyPr wrap="square"/>
                    <a:lstStyle/>
                    <a:p>
                      <a:r>
                        <a:rPr sz="1200" b="1" i="0">
                          <a:latin typeface="Times New Roman"/>
                          <a:cs typeface="Times New Roman"/>
                        </a:rPr>
                        <a:t>FR2</a:t>
                      </a:r>
                    </a:p>
                  </a:txBody>
                  <a:tcPr marL="45720" marR="45720" marT="22860" marB="22860"/>
                </a:tc>
                <a:tc>
                  <a:txBody>
                    <a:bodyPr wrap="square"/>
                    <a:lstStyle/>
                    <a:p>
                      <a:r>
                        <a:rPr sz="1200" b="0" i="0">
                          <a:latin typeface="Times New Roman"/>
                          <a:cs typeface="Times New Roman"/>
                        </a:rPr>
                        <a:t>Capture a screenshot (and in a browser the page URL and viewport size) before every decision; never read the DOM, accessibility tree or an application API to find targets.</a:t>
                      </a:r>
                    </a:p>
                  </a:txBody>
                  <a:tcPr marL="45720" marR="45720" marT="22860" marB="22860"/>
                </a:tc>
              </a:tr>
              <a:tr h="315468">
                <a:tc>
                  <a:txBody>
                    <a:bodyPr wrap="square"/>
                    <a:lstStyle/>
                    <a:p>
                      <a:r>
                        <a:rPr sz="1200" b="1" i="0">
                          <a:latin typeface="Times New Roman"/>
                          <a:cs typeface="Times New Roman"/>
                        </a:rPr>
                        <a:t>FR3</a:t>
                      </a:r>
                    </a:p>
                  </a:txBody>
                  <a:tcPr marL="45720" marR="45720" marT="22860" marB="22860"/>
                </a:tc>
                <a:tc>
                  <a:txBody>
                    <a:bodyPr wrap="square"/>
                    <a:lstStyle/>
                    <a:p>
                      <a:r>
                        <a:rPr sz="1200" b="0" i="0">
                          <a:latin typeface="Times New Roman"/>
                          <a:cs typeface="Times New Roman"/>
                        </a:rPr>
                        <a:t>Detect interactable controls and read their labels locally with OmniParser and RapidOCR, or with Gemini visual detection when selected.</a:t>
                      </a:r>
                    </a:p>
                  </a:txBody>
                  <a:tcPr marL="45720" marR="45720" marT="22860" marB="22860"/>
                </a:tc>
              </a:tr>
              <a:tr h="315468">
                <a:tc>
                  <a:txBody>
                    <a:bodyPr wrap="square"/>
                    <a:lstStyle/>
                    <a:p>
                      <a:r>
                        <a:rPr sz="1200" b="1" i="0">
                          <a:latin typeface="Times New Roman"/>
                          <a:cs typeface="Times New Roman"/>
                        </a:rPr>
                        <a:t>FR4</a:t>
                      </a:r>
                    </a:p>
                  </a:txBody>
                  <a:tcPr marL="45720" marR="45720" marT="22860" marB="22860"/>
                </a:tc>
                <a:tc>
                  <a:txBody>
                    <a:bodyPr wrap="square"/>
                    <a:lstStyle/>
                    <a:p>
                      <a:r>
                        <a:rPr sz="1200" b="0" i="0">
                          <a:latin typeface="Times New Roman"/>
                          <a:cs typeface="Times New Roman"/>
                        </a:rPr>
                        <a:t>Decide from pixel contrast whether each control is enabled or disabled.</a:t>
                      </a:r>
                    </a:p>
                  </a:txBody>
                  <a:tcPr marL="45720" marR="45720" marT="22860" marB="22860"/>
                </a:tc>
              </a:tr>
              <a:tr h="315468">
                <a:tc>
                  <a:txBody>
                    <a:bodyPr wrap="square"/>
                    <a:lstStyle/>
                    <a:p>
                      <a:r>
                        <a:rPr sz="1200" b="1" i="0">
                          <a:latin typeface="Times New Roman"/>
                          <a:cs typeface="Times New Roman"/>
                        </a:rPr>
                        <a:t>FR5</a:t>
                      </a:r>
                    </a:p>
                  </a:txBody>
                  <a:tcPr marL="45720" marR="45720" marT="22860" marB="22860"/>
                </a:tc>
                <a:tc>
                  <a:txBody>
                    <a:bodyPr wrap="square"/>
                    <a:lstStyle/>
                    <a:p>
                      <a:r>
                        <a:rPr sz="1200" b="0" i="0">
                          <a:latin typeface="Times New Roman"/>
                          <a:cs typeface="Times New Roman"/>
                        </a:rPr>
                        <a:t>Abstract each screen into section-scoped facts, keep a persistent inventory of facts and controls per section, and maintain a belief state during a run.</a:t>
                      </a:r>
                    </a:p>
                  </a:txBody>
                  <a:tcPr marL="45720" marR="45720" marT="22860" marB="22860"/>
                </a:tc>
              </a:tr>
              <a:tr h="315468">
                <a:tc>
                  <a:txBody>
                    <a:bodyPr wrap="square"/>
                    <a:lstStyle/>
                    <a:p>
                      <a:r>
                        <a:rPr sz="1200" b="1" i="0">
                          <a:latin typeface="Times New Roman"/>
                          <a:cs typeface="Times New Roman"/>
                        </a:rPr>
                        <a:t>FR6</a:t>
                      </a:r>
                    </a:p>
                  </a:txBody>
                  <a:tcPr marL="45720" marR="45720" marT="22860" marB="22860"/>
                </a:tc>
                <a:tc>
                  <a:txBody>
                    <a:bodyPr wrap="square"/>
                    <a:lstStyle/>
                    <a:p>
                      <a:r>
                        <a:rPr sz="1200" b="0" i="0">
                          <a:latin typeface="Times New Roman"/>
                          <a:cs typeface="Times New Roman"/>
                        </a:rPr>
                        <a:t>Execute click, fill, select, set_checked, set_date, set_range, upload, set_color, press, scroll and done at pixel coordinates.</a:t>
                      </a:r>
                    </a:p>
                  </a:txBody>
                  <a:tcPr marL="45720" marR="45720" marT="22860" marB="22860"/>
                </a:tc>
              </a:tr>
              <a:tr h="315468">
                <a:tc>
                  <a:txBody>
                    <a:bodyPr wrap="square"/>
                    <a:lstStyle/>
                    <a:p>
                      <a:r>
                        <a:rPr sz="1200" b="1" i="0">
                          <a:latin typeface="Times New Roman"/>
                          <a:cs typeface="Times New Roman"/>
                        </a:rPr>
                        <a:t>FR7</a:t>
                      </a:r>
                    </a:p>
                  </a:txBody>
                  <a:tcPr marL="45720" marR="45720" marT="22860" marB="22860"/>
                </a:tc>
                <a:tc>
                  <a:txBody>
                    <a:bodyPr wrap="square"/>
                    <a:lstStyle/>
                    <a:p>
                      <a:r>
                        <a:rPr sz="1200" b="0" i="0">
                          <a:latin typeface="Times New Roman"/>
                          <a:cs typeface="Times New Roman"/>
                        </a:rPr>
                        <a:t>Verify requested visual postconditions, and refuse done until every goal part is proven or declared unavailable.</a:t>
                      </a:r>
                    </a:p>
                  </a:txBody>
                  <a:tcPr marL="45720" marR="45720" marT="22860" marB="22860"/>
                </a:tc>
              </a:tr>
              <a:tr h="315468">
                <a:tc>
                  <a:txBody>
                    <a:bodyPr wrap="square"/>
                    <a:lstStyle/>
                    <a:p>
                      <a:r>
                        <a:rPr sz="1200" b="1" i="0">
                          <a:latin typeface="Times New Roman"/>
                          <a:cs typeface="Times New Roman"/>
                        </a:rPr>
                        <a:t>FR8</a:t>
                      </a:r>
                    </a:p>
                  </a:txBody>
                  <a:tcPr marL="45720" marR="45720" marT="22860" marB="22860"/>
                </a:tc>
                <a:tc>
                  <a:txBody>
                    <a:bodyPr wrap="square"/>
                    <a:lstStyle/>
                    <a:p>
                      <a:r>
                        <a:rPr sz="1200" b="0" i="0">
                          <a:latin typeface="Times New Roman"/>
                          <a:cs typeface="Times New Roman"/>
                        </a:rPr>
                        <a:t>Learn effects, candidate preconditions and context conditions for each control and persist the model atomically as JSON.</a:t>
                      </a:r>
                    </a:p>
                  </a:txBody>
                  <a:tcPr marL="45720" marR="45720" marT="22860" marB="22860"/>
                </a:tc>
              </a:tr>
              <a:tr h="315468">
                <a:tc>
                  <a:txBody>
                    <a:bodyPr wrap="square"/>
                    <a:lstStyle/>
                    <a:p>
                      <a:r>
                        <a:rPr sz="1200" b="1" i="0">
                          <a:latin typeface="Times New Roman"/>
                          <a:cs typeface="Times New Roman"/>
                        </a:rPr>
                        <a:t>FR9</a:t>
                      </a:r>
                    </a:p>
                  </a:txBody>
                  <a:tcPr marL="45720" marR="45720" marT="22860" marB="22860"/>
                </a:tc>
                <a:tc>
                  <a:txBody>
                    <a:bodyPr wrap="square"/>
                    <a:lstStyle/>
                    <a:p>
                      <a:r>
                        <a:rPr sz="1200" b="0" i="0">
                          <a:latin typeface="Times New Roman"/>
                          <a:cs typeface="Times New Roman"/>
                        </a:rPr>
                        <a:t>In active mode, run replays, tours and ablated replays on a resettable application within a step budget and without LLM calls.</a:t>
                      </a:r>
                    </a:p>
                  </a:txBody>
                  <a:tcPr marL="45720" marR="45720" marT="22860" marB="22860"/>
                </a:tc>
              </a:tr>
              <a:tr h="315468">
                <a:tc>
                  <a:txBody>
                    <a:bodyPr wrap="square"/>
                    <a:lstStyle/>
                    <a:p>
                      <a:r>
                        <a:rPr sz="1200" b="1" i="0">
                          <a:latin typeface="Times New Roman"/>
                          <a:cs typeface="Times New Roman"/>
                        </a:rPr>
                        <a:t>FR10</a:t>
                      </a:r>
                    </a:p>
                  </a:txBody>
                  <a:tcPr marL="45720" marR="45720" marT="22860" marB="22860"/>
                </a:tc>
                <a:tc>
                  <a:txBody>
                    <a:bodyPr wrap="square"/>
                    <a:lstStyle/>
                    <a:p>
                      <a:r>
                        <a:rPr sz="1200" b="0" i="0">
                          <a:latin typeface="Times New Roman"/>
                          <a:cs typeface="Times New Roman"/>
                        </a:rPr>
                        <a:t>Plan with learned schemas by backward chaining, navigate between sections, and declare a goal unavailable from the learned model.</a:t>
                      </a:r>
                    </a:p>
                  </a:txBody>
                  <a:tcPr marL="45720" marR="45720" marT="22860" marB="22860"/>
                </a:tc>
              </a:tr>
              <a:tr h="315468">
                <a:tc>
                  <a:txBody>
                    <a:bodyPr wrap="square"/>
                    <a:lstStyle/>
                    <a:p>
                      <a:r>
                        <a:rPr sz="1200" b="1" i="0">
                          <a:latin typeface="Times New Roman"/>
                          <a:cs typeface="Times New Roman"/>
                        </a:rPr>
                        <a:t>FR11</a:t>
                      </a:r>
                    </a:p>
                  </a:txBody>
                  <a:tcPr marL="45720" marR="45720" marT="22860" marB="22860"/>
                </a:tc>
                <a:tc>
                  <a:txBody>
                    <a:bodyPr wrap="square"/>
                    <a:lstStyle/>
                    <a:p>
                      <a:r>
                        <a:rPr sz="1200" b="0" i="0">
                          <a:latin typeface="Times New Roman"/>
                          <a:cs typeface="Times New Roman"/>
                        </a:rPr>
                        <a:t>Support the memory modes none, graph, passive-action-model and active-action-model, plus two ablation modes.</a:t>
                      </a:r>
                    </a:p>
                  </a:txBody>
                  <a:tcPr marL="45720" marR="45720" marT="22860" marB="22860"/>
                </a:tc>
              </a:tr>
              <a:tr h="315468">
                <a:tc>
                  <a:txBody>
                    <a:bodyPr wrap="square"/>
                    <a:lstStyle/>
                    <a:p>
                      <a:r>
                        <a:rPr sz="1200" b="1" i="0">
                          <a:latin typeface="Times New Roman"/>
                          <a:cs typeface="Times New Roman"/>
                        </a:rPr>
                        <a:t>FR12</a:t>
                      </a:r>
                    </a:p>
                  </a:txBody>
                  <a:tcPr marL="45720" marR="45720" marT="22860" marB="22860"/>
                </a:tc>
                <a:tc>
                  <a:txBody>
                    <a:bodyPr wrap="square"/>
                    <a:lstStyle/>
                    <a:p>
                      <a:r>
                        <a:rPr sz="1200" b="0" i="0">
                          <a:latin typeface="Times New Roman"/>
                          <a:cs typeface="Times New Roman"/>
                        </a:rPr>
                        <a:t>Log every transition with screenshots, timings and LLM calls by purpose to SQLite; export the state graph; report metrics.</a:t>
                      </a:r>
                    </a:p>
                  </a:txBody>
                  <a:tcPr marL="45720" marR="45720" marT="22860" marB="22860"/>
                </a:tc>
              </a:tr>
              <a:tr h="315468">
                <a:tc>
                  <a:txBody>
                    <a:bodyPr wrap="square"/>
                    <a:lstStyle/>
                    <a:p>
                      <a:r>
                        <a:rPr sz="1200" b="1" i="0">
                          <a:latin typeface="Times New Roman"/>
                          <a:cs typeface="Times New Roman"/>
                        </a:rPr>
                        <a:t>FR13</a:t>
                      </a:r>
                    </a:p>
                  </a:txBody>
                  <a:tcPr marL="45720" marR="45720" marT="22860" marB="22860"/>
                </a:tc>
                <a:tc>
                  <a:txBody>
                    <a:bodyPr wrap="square"/>
                    <a:lstStyle/>
                    <a:p>
                      <a:r>
                        <a:rPr sz="1200" b="0" i="0">
                          <a:latin typeface="Times New Roman"/>
                          <a:cs typeface="Times New Roman"/>
                        </a:rPr>
                        <a:t>Provide a read-only local web viewer for runs, steps, the state graph and metrics.</a:t>
                      </a:r>
                    </a:p>
                  </a:txBody>
                  <a:tcPr marL="45720" marR="45720" marT="22860" marB="22860"/>
                </a:tc>
              </a:tr>
              <a:tr h="315468">
                <a:tc>
                  <a:txBody>
                    <a:bodyPr wrap="square"/>
                    <a:lstStyle/>
                    <a:p>
                      <a:r>
                        <a:rPr sz="1200" b="1" i="0">
                          <a:latin typeface="Times New Roman"/>
                          <a:cs typeface="Times New Roman"/>
                        </a:rPr>
                        <a:t>FR14</a:t>
                      </a:r>
                    </a:p>
                  </a:txBody>
                  <a:tcPr marL="45720" marR="45720" marT="22860" marB="22860"/>
                </a:tc>
                <a:tc>
                  <a:txBody>
                    <a:bodyPr wrap="square"/>
                    <a:lstStyle/>
                    <a:p>
                      <a:r>
                        <a:rPr sz="1200" b="0" i="0">
                          <a:latin typeface="Times New Roman"/>
                          <a:cs typeface="Times New Roman"/>
                        </a:rPr>
                        <a:t>Serve the benchmark applications with reset and scoring endpoints hidden from the agent, and run the evaluation matrix in resumable shards.</a:t>
                      </a:r>
                    </a:p>
                  </a:txBody>
                  <a:tcPr marL="45720" marR="45720" marT="22860" marB="22860"/>
                </a:tc>
              </a:tr>
            </a:tbl>
          </a:graphicData>
        </a:graphic>
      </p:graphicFrame>
    </p:spTree>
    <p:extLst>
      <p:ext uri="{BB962C8B-B14F-4D97-AF65-F5344CB8AC3E}">
        <p14:creationId xmlns:p14="http://schemas.microsoft.com/office/powerpoint/2010/main" val="319129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42F2ED-50F9-3DFA-95BB-1A1059C5D893}"/>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D74A04E0-6631-130F-A154-C85D978EA39B}"/>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57200" y="1280160"/>
          <a:ext cx="11247120" cy="4480560"/>
        </p:xfrm>
        <a:graphic>
          <a:graphicData uri="http://schemas.openxmlformats.org/drawingml/2006/table">
            <a:tbl>
              <a:tblPr firstRow="1" bandRow="1">
                <a:tableStyleId>{5C22544A-7EE6-4342-B048-85BDC9FD1C3A}</a:tableStyleId>
              </a:tblPr>
              <a:tblGrid>
                <a:gridCol w="2377440"/>
                <a:gridCol w="2834640"/>
                <a:gridCol w="6035040"/>
              </a:tblGrid>
              <a:tr h="365760">
                <a:tc>
                  <a:txBody>
                    <a:bodyPr wrap="square"/>
                    <a:lstStyle/>
                    <a:p>
                      <a:r>
                        <a:rPr sz="1300" b="1" i="0">
                          <a:latin typeface="Times New Roman"/>
                          <a:cs typeface="Times New Roman"/>
                        </a:rPr>
                        <a:t>Module</a:t>
                      </a:r>
                    </a:p>
                  </a:txBody>
                  <a:tcPr marL="45720" marR="45720" marT="22860" marB="22860"/>
                </a:tc>
                <a:tc>
                  <a:txBody>
                    <a:bodyPr wrap="square"/>
                    <a:lstStyle/>
                    <a:p>
                      <a:r>
                        <a:rPr sz="1300" b="1" i="0">
                          <a:latin typeface="Times New Roman"/>
                          <a:cs typeface="Times New Roman"/>
                        </a:rPr>
                        <a:t>Source files</a:t>
                      </a:r>
                    </a:p>
                  </a:txBody>
                  <a:tcPr marL="45720" marR="45720" marT="22860" marB="22860"/>
                </a:tc>
                <a:tc>
                  <a:txBody>
                    <a:bodyPr wrap="square"/>
                    <a:lstStyle/>
                    <a:p>
                      <a:r>
                        <a:rPr sz="1300" b="1" i="0">
                          <a:latin typeface="Times New Roman"/>
                          <a:cs typeface="Times New Roman"/>
                        </a:rPr>
                        <a:t>Responsibility</a:t>
                      </a:r>
                    </a:p>
                  </a:txBody>
                  <a:tcPr marL="45720" marR="45720" marT="22860" marB="22860"/>
                </a:tc>
              </a:tr>
              <a:tr h="457200">
                <a:tc>
                  <a:txBody>
                    <a:bodyPr wrap="square"/>
                    <a:lstStyle/>
                    <a:p>
                      <a:r>
                        <a:rPr sz="1200" b="1" i="0">
                          <a:latin typeface="Times New Roman"/>
                          <a:cs typeface="Times New Roman"/>
                        </a:rPr>
                        <a:t>Screen capture and perception</a:t>
                      </a:r>
                    </a:p>
                  </a:txBody>
                  <a:tcPr marL="45720" marR="45720" marT="22860" marB="22860"/>
                </a:tc>
                <a:tc>
                  <a:txBody>
                    <a:bodyPr wrap="square"/>
                    <a:lstStyle/>
                    <a:p>
                      <a:r>
                        <a:rPr sz="1200" b="0" i="0">
                          <a:latin typeface="Times New Roman"/>
                          <a:cs typeface="Times New Roman"/>
                        </a:rPr>
                        <a:t>capture.py, perception.py</a:t>
                      </a:r>
                    </a:p>
                  </a:txBody>
                  <a:tcPr marL="45720" marR="45720" marT="22860" marB="22860"/>
                </a:tc>
                <a:tc>
                  <a:txBody>
                    <a:bodyPr wrap="square"/>
                    <a:lstStyle/>
                    <a:p>
                      <a:r>
                        <a:rPr sz="1200" b="0" i="0">
                          <a:latin typeface="Times New Roman"/>
                          <a:cs typeface="Times New Roman"/>
                        </a:rPr>
                        <a:t>Screenshot and URL; OmniParser YOLOv9 detector + RapidOCR; pixel-contrast disabled check (WCAG 3:1); Gemini refinement or discovery when a target is uncertain</a:t>
                      </a:r>
                    </a:p>
                  </a:txBody>
                  <a:tcPr marL="45720" marR="45720" marT="22860" marB="22860"/>
                </a:tc>
              </a:tr>
              <a:tr h="457200">
                <a:tc>
                  <a:txBody>
                    <a:bodyPr wrap="square"/>
                    <a:lstStyle/>
                    <a:p>
                      <a:r>
                        <a:rPr sz="1200" b="1" i="0">
                          <a:latin typeface="Times New Roman"/>
                          <a:cs typeface="Times New Roman"/>
                        </a:rPr>
                        <a:t>Scoped facts and belief state</a:t>
                      </a:r>
                    </a:p>
                  </a:txBody>
                  <a:tcPr marL="45720" marR="45720" marT="22860" marB="22860"/>
                </a:tc>
                <a:tc>
                  <a:txBody>
                    <a:bodyPr wrap="square"/>
                    <a:lstStyle/>
                    <a:p>
                      <a:r>
                        <a:rPr sz="1200" b="0" i="0">
                          <a:latin typeface="Times New Roman"/>
                          <a:cs typeface="Times New Roman"/>
                        </a:rPr>
                        <a:t>predicates.py</a:t>
                      </a:r>
                    </a:p>
                  </a:txBody>
                  <a:tcPr marL="45720" marR="45720" marT="22860" marB="22860"/>
                </a:tc>
                <a:tc>
                  <a:txBody>
                    <a:bodyPr wrap="square"/>
                    <a:lstStyle/>
                    <a:p>
                      <a:r>
                        <a:rPr sz="1200" b="0" i="0">
                          <a:latin typeface="Times New Roman"/>
                          <a:cs typeface="Times New Roman"/>
                        </a:rPr>
                        <a:t>Status and availability facts per application section; persistent inventory; belief labels (observed, absent, predicted, stale, unknown)</a:t>
                      </a:r>
                    </a:p>
                  </a:txBody>
                  <a:tcPr marL="45720" marR="45720" marT="22860" marB="22860"/>
                </a:tc>
              </a:tr>
              <a:tr h="457200">
                <a:tc>
                  <a:txBody>
                    <a:bodyPr wrap="square"/>
                    <a:lstStyle/>
                    <a:p>
                      <a:r>
                        <a:rPr sz="1200" b="1" i="0">
                          <a:latin typeface="Times New Roman"/>
                          <a:cs typeface="Times New Roman"/>
                        </a:rPr>
                        <a:t>Action-model learning</a:t>
                      </a:r>
                    </a:p>
                  </a:txBody>
                  <a:tcPr marL="45720" marR="45720" marT="22860" marB="22860"/>
                </a:tc>
                <a:tc>
                  <a:txBody>
                    <a:bodyPr wrap="square"/>
                    <a:lstStyle/>
                    <a:p>
                      <a:r>
                        <a:rPr sz="1200" b="0" i="0">
                          <a:latin typeface="Times New Roman"/>
                          <a:cs typeface="Times New Roman"/>
                        </a:rPr>
                        <a:t>action_model.py, models.py</a:t>
                      </a:r>
                    </a:p>
                  </a:txBody>
                  <a:tcPr marL="45720" marR="45720" marT="22860" marB="22860"/>
                </a:tc>
                <a:tc>
                  <a:txBody>
                    <a:bodyPr wrap="square"/>
                    <a:lstStyle/>
                    <a:p>
                      <a:r>
                        <a:rPr sz="1200" b="0" i="0">
                          <a:latin typeface="Times New Roman"/>
                          <a:cs typeface="Times New Roman"/>
                        </a:rPr>
                        <a:t>Effects, candidate preconditions and context conditions with support, contradiction and confidence; outcome classes</a:t>
                      </a:r>
                    </a:p>
                  </a:txBody>
                  <a:tcPr marL="45720" marR="45720" marT="22860" marB="22860"/>
                </a:tc>
              </a:tr>
              <a:tr h="457200">
                <a:tc>
                  <a:txBody>
                    <a:bodyPr wrap="square"/>
                    <a:lstStyle/>
                    <a:p>
                      <a:r>
                        <a:rPr sz="1200" b="1" i="0">
                          <a:latin typeface="Times New Roman"/>
                          <a:cs typeface="Times New Roman"/>
                        </a:rPr>
                        <a:t>Experiment phase</a:t>
                      </a:r>
                    </a:p>
                  </a:txBody>
                  <a:tcPr marL="45720" marR="45720" marT="22860" marB="22860"/>
                </a:tc>
                <a:tc>
                  <a:txBody>
                    <a:bodyPr wrap="square"/>
                    <a:lstStyle/>
                    <a:p>
                      <a:r>
                        <a:rPr sz="1200" b="0" i="0">
                          <a:latin typeface="Times New Roman"/>
                          <a:cs typeface="Times New Roman"/>
                        </a:rPr>
                        <a:t>experiment_phase.py</a:t>
                      </a:r>
                    </a:p>
                  </a:txBody>
                  <a:tcPr marL="45720" marR="45720" marT="22860" marB="22860"/>
                </a:tc>
                <a:tc>
                  <a:txBody>
                    <a:bodyPr wrap="square"/>
                    <a:lstStyle/>
                    <a:p>
                      <a:r>
                        <a:rPr sz="1200" b="0" i="0">
                          <a:latin typeface="Times New Roman"/>
                          <a:cs typeface="Times New Roman"/>
                        </a:rPr>
                        <a:t>Reference replays, tours and ablated replays within a 150-step budget, with no LLM calls</a:t>
                      </a:r>
                    </a:p>
                  </a:txBody>
                  <a:tcPr marL="45720" marR="45720" marT="22860" marB="22860"/>
                </a:tc>
              </a:tr>
              <a:tr h="457200">
                <a:tc>
                  <a:txBody>
                    <a:bodyPr wrap="square"/>
                    <a:lstStyle/>
                    <a:p>
                      <a:r>
                        <a:rPr sz="1200" b="1" i="0">
                          <a:latin typeface="Times New Roman"/>
                          <a:cs typeface="Times New Roman"/>
                        </a:rPr>
                        <a:t>Planning and completion checks</a:t>
                      </a:r>
                    </a:p>
                  </a:txBody>
                  <a:tcPr marL="45720" marR="45720" marT="22860" marB="22860"/>
                </a:tc>
                <a:tc>
                  <a:txBody>
                    <a:bodyPr wrap="square"/>
                    <a:lstStyle/>
                    <a:p>
                      <a:r>
                        <a:rPr sz="1200" b="0" i="0">
                          <a:latin typeface="Times New Roman"/>
                          <a:cs typeface="Times New Roman"/>
                        </a:rPr>
                        <a:t>functional_planner.py, agent.py</a:t>
                      </a:r>
                    </a:p>
                  </a:txBody>
                  <a:tcPr marL="45720" marR="45720" marT="22860" marB="22860"/>
                </a:tc>
                <a:tc>
                  <a:txBody>
                    <a:bodyPr wrap="square"/>
                    <a:lstStyle/>
                    <a:p>
                      <a:r>
                        <a:rPr sz="1200" b="0" i="0">
                          <a:latin typeface="Times New Roman"/>
                          <a:cs typeface="Times New Roman"/>
                        </a:rPr>
                        <a:t>Backward chaining over learned schemas (depth 4); unavailability declarations; goal-part ledger that blocks an early done</a:t>
                      </a:r>
                    </a:p>
                  </a:txBody>
                  <a:tcPr marL="45720" marR="45720" marT="22860" marB="22860"/>
                </a:tc>
              </a:tr>
              <a:tr h="457200">
                <a:tc>
                  <a:txBody>
                    <a:bodyPr wrap="square"/>
                    <a:lstStyle/>
                    <a:p>
                      <a:r>
                        <a:rPr sz="1200" b="1" i="0">
                          <a:latin typeface="Times New Roman"/>
                          <a:cs typeface="Times New Roman"/>
                        </a:rPr>
                        <a:t>Policy cascade</a:t>
                      </a:r>
                    </a:p>
                  </a:txBody>
                  <a:tcPr marL="45720" marR="45720" marT="22860" marB="22860"/>
                </a:tc>
                <a:tc>
                  <a:txBody>
                    <a:bodyPr wrap="square"/>
                    <a:lstStyle/>
                    <a:p>
                      <a:r>
                        <a:rPr sz="1200" b="0" i="0">
                          <a:latin typeface="Times New Roman"/>
                          <a:cs typeface="Times New Roman"/>
                        </a:rPr>
                        <a:t>decision.py, gemini.py</a:t>
                      </a:r>
                    </a:p>
                  </a:txBody>
                  <a:tcPr marL="45720" marR="45720" marT="22860" marB="22860"/>
                </a:tc>
                <a:tc>
                  <a:txBody>
                    <a:bodyPr wrap="square"/>
                    <a:lstStyle/>
                    <a:p>
                      <a:r>
                        <a:rPr sz="1200" b="0" i="0">
                          <a:latin typeface="Times New Roman"/>
                          <a:cs typeface="Times New Roman"/>
                        </a:rPr>
                        <a:t>Local Laya model first, Gemini (gemini-3.5-flash-lite) as fallback; key rotation, shared rate limiter, calls counted by purpose</a:t>
                      </a:r>
                    </a:p>
                  </a:txBody>
                  <a:tcPr marL="45720" marR="45720" marT="22860" marB="22860"/>
                </a:tc>
              </a:tr>
              <a:tr h="457200">
                <a:tc>
                  <a:txBody>
                    <a:bodyPr wrap="square"/>
                    <a:lstStyle/>
                    <a:p>
                      <a:r>
                        <a:rPr sz="1200" b="1" i="0">
                          <a:latin typeface="Times New Roman"/>
                          <a:cs typeface="Times New Roman"/>
                        </a:rPr>
                        <a:t>Execution, verification and memory</a:t>
                      </a:r>
                    </a:p>
                  </a:txBody>
                  <a:tcPr marL="45720" marR="45720" marT="22860" marB="22860"/>
                </a:tc>
                <a:tc>
                  <a:txBody>
                    <a:bodyPr wrap="square"/>
                    <a:lstStyle/>
                    <a:p>
                      <a:r>
                        <a:rPr sz="1200" b="0" i="0">
                          <a:latin typeface="Times New Roman"/>
                          <a:cs typeface="Times New Roman"/>
                        </a:rPr>
                        <a:t>executor.py, desktop.py, verification.py, state_graph.py, logging_store.py</a:t>
                      </a:r>
                    </a:p>
                  </a:txBody>
                  <a:tcPr marL="45720" marR="45720" marT="22860" marB="22860"/>
                </a:tc>
                <a:tc>
                  <a:txBody>
                    <a:bodyPr wrap="square"/>
                    <a:lstStyle/>
                    <a:p>
                      <a:r>
                        <a:rPr sz="1200" b="0" i="0">
                          <a:latin typeface="Times New Roman"/>
                          <a:cs typeface="Times New Roman"/>
                        </a:rPr>
                        <a:t>Input at pixel coordinates via Playwright or PyAutoGUI; postcondition checks; state graph; SQLite run log</a:t>
                      </a:r>
                    </a:p>
                  </a:txBody>
                  <a:tcPr marL="45720" marR="45720" marT="22860" marB="22860"/>
                </a:tc>
              </a:tr>
              <a:tr h="457200">
                <a:tc>
                  <a:txBody>
                    <a:bodyPr wrap="square"/>
                    <a:lstStyle/>
                    <a:p>
                      <a:r>
                        <a:rPr sz="1200" b="1" i="0">
                          <a:latin typeface="Times New Roman"/>
                          <a:cs typeface="Times New Roman"/>
                        </a:rPr>
                        <a:t>Visual Function Lab and harness</a:t>
                      </a:r>
                    </a:p>
                  </a:txBody>
                  <a:tcPr marL="45720" marR="45720" marT="22860" marB="22860"/>
                </a:tc>
                <a:tc>
                  <a:txBody>
                    <a:bodyPr wrap="square"/>
                    <a:lstStyle/>
                    <a:p>
                      <a:r>
                        <a:rPr sz="1200" b="0" i="0">
                          <a:latin typeface="Times New Roman"/>
                          <a:cs typeface="Times New Roman"/>
                        </a:rPr>
                        <a:t>visual_function_lab*.py, visible_truth.py, evaluation.py</a:t>
                      </a:r>
                    </a:p>
                  </a:txBody>
                  <a:tcPr marL="45720" marR="45720" marT="22860" marB="22860"/>
                </a:tc>
                <a:tc>
                  <a:txBody>
                    <a:bodyPr wrap="square"/>
                    <a:lstStyle/>
                    <a:p>
                      <a:r>
                        <a:rPr sz="1200" b="0" i="0">
                          <a:latin typeface="Times New Roman"/>
                          <a:cs typeface="Times New Roman"/>
                        </a:rPr>
                        <a:t>3 applications x 3 layouts with a hidden evaluator; perception-derived ground truth; resumable, sharded evaluation</a:t>
                      </a:r>
                    </a:p>
                  </a:txBody>
                  <a:tcPr marL="45720" marR="45720" marT="22860" marB="22860"/>
                </a:tc>
              </a:tr>
              <a:tr h="457200">
                <a:tc>
                  <a:txBody>
                    <a:bodyPr wrap="square"/>
                    <a:lstStyle/>
                    <a:p>
                      <a:r>
                        <a:rPr sz="1200" b="1" i="0">
                          <a:latin typeface="Times New Roman"/>
                          <a:cs typeface="Times New Roman"/>
                        </a:rPr>
                        <a:t>Run viewer</a:t>
                      </a:r>
                    </a:p>
                  </a:txBody>
                  <a:tcPr marL="45720" marR="45720" marT="22860" marB="22860"/>
                </a:tc>
                <a:tc>
                  <a:txBody>
                    <a:bodyPr wrap="square"/>
                    <a:lstStyle/>
                    <a:p>
                      <a:r>
                        <a:rPr sz="1200" b="0" i="0">
                          <a:latin typeface="Times New Roman"/>
                          <a:cs typeface="Times New Roman"/>
                        </a:rPr>
                        <a:t>viewer/</a:t>
                      </a:r>
                    </a:p>
                  </a:txBody>
                  <a:tcPr marL="45720" marR="45720" marT="22860" marB="22860"/>
                </a:tc>
                <a:tc>
                  <a:txBody>
                    <a:bodyPr wrap="square"/>
                    <a:lstStyle/>
                    <a:p>
                      <a:r>
                        <a:rPr sz="1200" b="0" i="0">
                          <a:latin typeface="Times New Roman"/>
                          <a:cs typeface="Times New Roman"/>
                        </a:rPr>
                        <a:t>Read-only local web app: runs, steps, screenshots with element boxes, state graph and metrics</a:t>
                      </a:r>
                    </a:p>
                  </a:txBody>
                  <a:tcPr marL="45720" marR="45720" marT="22860" marB="22860"/>
                </a:tc>
              </a:tr>
            </a:tbl>
          </a:graphicData>
        </a:graphic>
      </p:graphicFrame>
      <p:sp>
        <p:nvSpPr>
          <p:cNvPr id="8" name="TextBox 7"/>
          <p:cNvSpPr txBox="1"/>
          <p:nvPr/>
        </p:nvSpPr>
        <p:spPr>
          <a:xfrm>
            <a:off x="457200" y="5806440"/>
            <a:ext cx="11247120" cy="457200"/>
          </a:xfrm>
          <a:prstGeom prst="rect">
            <a:avLst/>
          </a:prstGeom>
          <a:noFill/>
        </p:spPr>
        <p:txBody>
          <a:bodyPr wrap="square" lIns="45720" rIns="45720" tIns="27432" bIns="27432" anchor="t">
            <a:noAutofit/>
          </a:bodyPr>
          <a:lstStyle/>
          <a:p>
            <a:pPr marL="0" indent="0">
              <a:lnSpc>
                <a:spcPct val="100000"/>
              </a:lnSpc>
              <a:spcBef>
                <a:spcPts val="0"/>
              </a:spcBef>
              <a:spcAft>
                <a:spcPts val="400"/>
              </a:spcAft>
              <a:buNone/>
            </a:pPr>
            <a:r>
              <a:rPr sz="1200" b="1" i="0">
                <a:latin typeface="Times New Roman"/>
                <a:cs typeface="Times New Roman"/>
              </a:rPr>
              <a:t>Status: all modules complete. </a:t>
            </a:r>
            <a:r>
              <a:rPr sz="1200" b="0" i="0">
                <a:latin typeface="Times New Roman"/>
                <a:cs typeface="Times New Roman"/>
              </a:rPr>
              <a:t>337 automated tests in 26 test modules passed on 20 Oct 2026. New since Review 2: experiment phase, Laya local policy, three-app lab with ground truth, run viewer.</a:t>
            </a:r>
          </a:p>
        </p:txBody>
      </p:sp>
    </p:spTree>
    <p:extLst>
      <p:ext uri="{BB962C8B-B14F-4D97-AF65-F5344CB8AC3E}">
        <p14:creationId xmlns:p14="http://schemas.microsoft.com/office/powerpoint/2010/main" val="3799870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 Setup and Validation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D376B32-FA12-4961-0DBF-EE57A7705BF9}"/>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57200" y="1280160"/>
            <a:ext cx="6035040" cy="320040"/>
          </a:xfrm>
          <a:prstGeom prst="rect">
            <a:avLst/>
          </a:prstGeom>
          <a:noFill/>
        </p:spPr>
        <p:txBody>
          <a:bodyPr wrap="square" lIns="45720" rIns="45720" tIns="27432" bIns="27432" anchor="t">
            <a:noAutofit/>
          </a:bodyPr>
          <a:lstStyle/>
          <a:p>
            <a:pPr marL="0" indent="0">
              <a:lnSpc>
                <a:spcPct val="100000"/>
              </a:lnSpc>
              <a:spcBef>
                <a:spcPts val="0"/>
              </a:spcBef>
              <a:spcAft>
                <a:spcPts val="400"/>
              </a:spcAft>
              <a:buNone/>
            </a:pPr>
            <a:r>
              <a:rPr sz="1300" b="1" i="0">
                <a:latin typeface="Times New Roman"/>
                <a:cs typeface="Times New Roman"/>
              </a:rPr>
              <a:t>Benchmark applications (Visual Function Lab)</a:t>
            </a:r>
          </a:p>
        </p:txBody>
      </p:sp>
      <p:graphicFrame>
        <p:nvGraphicFramePr>
          <p:cNvPr id="8" name="Table 7"/>
          <p:cNvGraphicFramePr>
            <a:graphicFrameLocks noGrp="1"/>
          </p:cNvGraphicFramePr>
          <p:nvPr/>
        </p:nvGraphicFramePr>
        <p:xfrm>
          <a:off x="457200" y="1627632"/>
          <a:ext cx="6035040" cy="1243584"/>
        </p:xfrm>
        <a:graphic>
          <a:graphicData uri="http://schemas.openxmlformats.org/drawingml/2006/table">
            <a:tbl>
              <a:tblPr firstRow="1" bandRow="1">
                <a:tableStyleId>{5C22544A-7EE6-4342-B048-85BDC9FD1C3A}</a:tableStyleId>
              </a:tblPr>
              <a:tblGrid>
                <a:gridCol w="457200"/>
                <a:gridCol w="2148840"/>
                <a:gridCol w="777240"/>
                <a:gridCol w="822960"/>
                <a:gridCol w="1828800"/>
              </a:tblGrid>
              <a:tr h="365760">
                <a:tc>
                  <a:txBody>
                    <a:bodyPr wrap="square"/>
                    <a:lstStyle/>
                    <a:p>
                      <a:pPr algn="ctr"/>
                      <a:r>
                        <a:rPr sz="1200" b="1" i="0">
                          <a:latin typeface="Times New Roman"/>
                          <a:cs typeface="Times New Roman"/>
                        </a:rPr>
                        <a:t>App</a:t>
                      </a:r>
                    </a:p>
                  </a:txBody>
                  <a:tcPr marL="45720" marR="45720" marT="22860" marB="22860"/>
                </a:tc>
                <a:tc>
                  <a:txBody>
                    <a:bodyPr wrap="square"/>
                    <a:lstStyle/>
                    <a:p>
                      <a:r>
                        <a:rPr sz="1200" b="1" i="0">
                          <a:latin typeface="Times New Roman"/>
                          <a:cs typeface="Times New Roman"/>
                        </a:rPr>
                        <a:t>Name on screen</a:t>
                      </a:r>
                    </a:p>
                  </a:txBody>
                  <a:tcPr marL="45720" marR="45720" marT="22860" marB="22860"/>
                </a:tc>
                <a:tc>
                  <a:txBody>
                    <a:bodyPr wrap="square"/>
                    <a:lstStyle/>
                    <a:p>
                      <a:pPr algn="ctr"/>
                      <a:r>
                        <a:rPr sz="1200" b="1" i="0">
                          <a:latin typeface="Times New Roman"/>
                          <a:cs typeface="Times New Roman"/>
                        </a:rPr>
                        <a:t>Actions</a:t>
                      </a:r>
                    </a:p>
                  </a:txBody>
                  <a:tcPr marL="45720" marR="45720" marT="22860" marB="22860"/>
                </a:tc>
                <a:tc>
                  <a:txBody>
                    <a:bodyPr wrap="square"/>
                    <a:lstStyle/>
                    <a:p>
                      <a:pPr algn="ctr"/>
                      <a:r>
                        <a:rPr sz="1200" b="1" i="0">
                          <a:latin typeface="Times New Roman"/>
                          <a:cs typeface="Times New Roman"/>
                        </a:rPr>
                        <a:t>Sections</a:t>
                      </a:r>
                    </a:p>
                  </a:txBody>
                  <a:tcPr marL="45720" marR="45720" marT="22860" marB="22860"/>
                </a:tc>
                <a:tc>
                  <a:txBody>
                    <a:bodyPr wrap="square"/>
                    <a:lstStyle/>
                    <a:p>
                      <a:r>
                        <a:rPr sz="1200" b="1" i="0">
                          <a:latin typeface="Times New Roman"/>
                          <a:cs typeface="Times New Roman"/>
                        </a:rPr>
                        <a:t>Role</a:t>
                      </a:r>
                    </a:p>
                  </a:txBody>
                  <a:tcPr marL="45720" marR="45720" marT="22860" marB="22860"/>
                </a:tc>
              </a:tr>
              <a:tr h="292608">
                <a:tc>
                  <a:txBody>
                    <a:bodyPr wrap="square"/>
                    <a:lstStyle/>
                    <a:p>
                      <a:pPr algn="ctr"/>
                      <a:r>
                        <a:rPr sz="1200" b="0" i="0">
                          <a:latin typeface="Times New Roman"/>
                          <a:cs typeface="Times New Roman"/>
                        </a:rPr>
                        <a:t>A</a:t>
                      </a:r>
                    </a:p>
                  </a:txBody>
                  <a:tcPr marL="45720" marR="45720" marT="22860" marB="22860"/>
                </a:tc>
                <a:tc>
                  <a:txBody>
                    <a:bodyPr wrap="square"/>
                    <a:lstStyle/>
                    <a:p>
                      <a:r>
                        <a:rPr sz="1200" b="0" i="0">
                          <a:latin typeface="Times New Roman"/>
                          <a:cs typeface="Times New Roman"/>
                        </a:rPr>
                        <a:t>Acme Project Workspace</a:t>
                      </a:r>
                    </a:p>
                  </a:txBody>
                  <a:tcPr marL="45720" marR="45720" marT="22860" marB="22860"/>
                </a:tc>
                <a:tc>
                  <a:txBody>
                    <a:bodyPr wrap="square"/>
                    <a:lstStyle/>
                    <a:p>
                      <a:pPr algn="ctr"/>
                      <a:r>
                        <a:rPr sz="1200" b="0" i="0">
                          <a:latin typeface="Times New Roman"/>
                          <a:cs typeface="Times New Roman"/>
                        </a:rPr>
                        <a:t>15</a:t>
                      </a:r>
                    </a:p>
                  </a:txBody>
                  <a:tcPr marL="45720" marR="45720" marT="22860" marB="22860"/>
                </a:tc>
                <a:tc>
                  <a:txBody>
                    <a:bodyPr wrap="square"/>
                    <a:lstStyle/>
                    <a:p>
                      <a:pPr algn="ctr"/>
                      <a:r>
                        <a:rPr sz="1200" b="0" i="0">
                          <a:latin typeface="Times New Roman"/>
                          <a:cs typeface="Times New Roman"/>
                        </a:rPr>
                        <a:t>5</a:t>
                      </a:r>
                    </a:p>
                  </a:txBody>
                  <a:tcPr marL="45720" marR="45720" marT="22860" marB="22860"/>
                </a:tc>
                <a:tc>
                  <a:txBody>
                    <a:bodyPr wrap="square"/>
                    <a:lstStyle/>
                    <a:p>
                      <a:r>
                        <a:rPr sz="1200" b="0" i="0">
                          <a:latin typeface="Times New Roman"/>
                          <a:cs typeface="Times New Roman"/>
                        </a:rPr>
                        <a:t>Explored, then tested</a:t>
                      </a:r>
                    </a:p>
                  </a:txBody>
                  <a:tcPr marL="45720" marR="45720" marT="22860" marB="22860"/>
                </a:tc>
              </a:tr>
              <a:tr h="292608">
                <a:tc>
                  <a:txBody>
                    <a:bodyPr wrap="square"/>
                    <a:lstStyle/>
                    <a:p>
                      <a:pPr algn="ctr"/>
                      <a:r>
                        <a:rPr sz="1200" b="0" i="0">
                          <a:latin typeface="Times New Roman"/>
                          <a:cs typeface="Times New Roman"/>
                        </a:rPr>
                        <a:t>B</a:t>
                      </a:r>
                    </a:p>
                  </a:txBody>
                  <a:tcPr marL="45720" marR="45720" marT="22860" marB="22860"/>
                </a:tc>
                <a:tc>
                  <a:txBody>
                    <a:bodyPr wrap="square"/>
                    <a:lstStyle/>
                    <a:p>
                      <a:r>
                        <a:rPr sz="1200" b="0" i="0">
                          <a:latin typeface="Times New Roman"/>
                          <a:cs typeface="Times New Roman"/>
                        </a:rPr>
                        <a:t>Northwind Support Desk</a:t>
                      </a:r>
                    </a:p>
                  </a:txBody>
                  <a:tcPr marL="45720" marR="45720" marT="22860" marB="22860"/>
                </a:tc>
                <a:tc>
                  <a:txBody>
                    <a:bodyPr wrap="square"/>
                    <a:lstStyle/>
                    <a:p>
                      <a:pPr algn="ctr"/>
                      <a:r>
                        <a:rPr sz="1200" b="0" i="0">
                          <a:latin typeface="Times New Roman"/>
                          <a:cs typeface="Times New Roman"/>
                        </a:rPr>
                        <a:t>11</a:t>
                      </a:r>
                    </a:p>
                  </a:txBody>
                  <a:tcPr marL="45720" marR="45720" marT="22860" marB="22860"/>
                </a:tc>
                <a:tc>
                  <a:txBody>
                    <a:bodyPr wrap="square"/>
                    <a:lstStyle/>
                    <a:p>
                      <a:pPr algn="ctr"/>
                      <a:r>
                        <a:rPr sz="1200" b="0" i="0">
                          <a:latin typeface="Times New Roman"/>
                          <a:cs typeface="Times New Roman"/>
                        </a:rPr>
                        <a:t>4</a:t>
                      </a:r>
                    </a:p>
                  </a:txBody>
                  <a:tcPr marL="45720" marR="45720" marT="22860" marB="22860"/>
                </a:tc>
                <a:tc>
                  <a:txBody>
                    <a:bodyPr wrap="square"/>
                    <a:lstStyle/>
                    <a:p>
                      <a:r>
                        <a:rPr sz="1200" b="0" i="0">
                          <a:latin typeface="Times New Roman"/>
                          <a:cs typeface="Times New Roman"/>
                        </a:rPr>
                        <a:t>Explored, then tested</a:t>
                      </a:r>
                    </a:p>
                  </a:txBody>
                  <a:tcPr marL="45720" marR="45720" marT="22860" marB="22860"/>
                </a:tc>
              </a:tr>
              <a:tr h="292608">
                <a:tc>
                  <a:txBody>
                    <a:bodyPr wrap="square"/>
                    <a:lstStyle/>
                    <a:p>
                      <a:pPr algn="ctr"/>
                      <a:r>
                        <a:rPr sz="1200" b="0" i="0">
                          <a:latin typeface="Times New Roman"/>
                          <a:cs typeface="Times New Roman"/>
                        </a:rPr>
                        <a:t>C</a:t>
                      </a:r>
                    </a:p>
                  </a:txBody>
                  <a:tcPr marL="45720" marR="45720" marT="22860" marB="22860"/>
                </a:tc>
                <a:tc>
                  <a:txBody>
                    <a:bodyPr wrap="square"/>
                    <a:lstStyle/>
                    <a:p>
                      <a:r>
                        <a:rPr sz="1200" b="0" i="0">
                          <a:latin typeface="Times New Roman"/>
                          <a:cs typeface="Times New Roman"/>
                        </a:rPr>
                        <a:t>Harbor Supply Orders</a:t>
                      </a:r>
                    </a:p>
                  </a:txBody>
                  <a:tcPr marL="45720" marR="45720" marT="22860" marB="22860"/>
                </a:tc>
                <a:tc>
                  <a:txBody>
                    <a:bodyPr wrap="square"/>
                    <a:lstStyle/>
                    <a:p>
                      <a:pPr algn="ctr"/>
                      <a:r>
                        <a:rPr sz="1200" b="0" i="0">
                          <a:latin typeface="Times New Roman"/>
                          <a:cs typeface="Times New Roman"/>
                        </a:rPr>
                        <a:t>12</a:t>
                      </a:r>
                    </a:p>
                  </a:txBody>
                  <a:tcPr marL="45720" marR="45720" marT="22860" marB="22860"/>
                </a:tc>
                <a:tc>
                  <a:txBody>
                    <a:bodyPr wrap="square"/>
                    <a:lstStyle/>
                    <a:p>
                      <a:pPr algn="ctr"/>
                      <a:r>
                        <a:rPr sz="1200" b="0" i="0">
                          <a:latin typeface="Times New Roman"/>
                          <a:cs typeface="Times New Roman"/>
                        </a:rPr>
                        <a:t>3</a:t>
                      </a:r>
                    </a:p>
                  </a:txBody>
                  <a:tcPr marL="45720" marR="45720" marT="22860" marB="22860"/>
                </a:tc>
                <a:tc>
                  <a:txBody>
                    <a:bodyPr wrap="square"/>
                    <a:lstStyle/>
                    <a:p>
                      <a:r>
                        <a:rPr sz="1200" b="0" i="0">
                          <a:latin typeface="Times New Roman"/>
                          <a:cs typeface="Times New Roman"/>
                        </a:rPr>
                        <a:t>Not explored (RQ6)</a:t>
                      </a:r>
                    </a:p>
                  </a:txBody>
                  <a:tcPr marL="45720" marR="45720" marT="22860" marB="22860"/>
                </a:tc>
              </a:tr>
            </a:tbl>
          </a:graphicData>
        </a:graphic>
      </p:graphicFrame>
      <p:sp>
        <p:nvSpPr>
          <p:cNvPr id="9" name="TextBox 8"/>
          <p:cNvSpPr txBox="1"/>
          <p:nvPr/>
        </p:nvSpPr>
        <p:spPr>
          <a:xfrm>
            <a:off x="457200" y="2926080"/>
            <a:ext cx="6035040" cy="320040"/>
          </a:xfrm>
          <a:prstGeom prst="rect">
            <a:avLst/>
          </a:prstGeom>
          <a:noFill/>
        </p:spPr>
        <p:txBody>
          <a:bodyPr wrap="square" lIns="45720" rIns="45720" tIns="27432" bIns="27432" anchor="t">
            <a:noAutofit/>
          </a:bodyPr>
          <a:lstStyle/>
          <a:p>
            <a:pPr marL="0" indent="0">
              <a:lnSpc>
                <a:spcPct val="100000"/>
              </a:lnSpc>
              <a:spcBef>
                <a:spcPts val="0"/>
              </a:spcBef>
              <a:spcAft>
                <a:spcPts val="400"/>
              </a:spcAft>
              <a:buNone/>
            </a:pPr>
            <a:r>
              <a:rPr sz="1300" b="1" i="0">
                <a:latin typeface="Times New Roman"/>
                <a:cs typeface="Times New Roman"/>
              </a:rPr>
              <a:t>Task groups per agent (47 tasks)</a:t>
            </a:r>
          </a:p>
        </p:txBody>
      </p:sp>
      <p:graphicFrame>
        <p:nvGraphicFramePr>
          <p:cNvPr id="10" name="Table 9"/>
          <p:cNvGraphicFramePr>
            <a:graphicFrameLocks noGrp="1"/>
          </p:cNvGraphicFramePr>
          <p:nvPr/>
        </p:nvGraphicFramePr>
        <p:xfrm>
          <a:off x="457200" y="3273552"/>
          <a:ext cx="6035040" cy="2066544"/>
        </p:xfrm>
        <a:graphic>
          <a:graphicData uri="http://schemas.openxmlformats.org/drawingml/2006/table">
            <a:tbl>
              <a:tblPr firstRow="1" bandRow="1">
                <a:tableStyleId>{5C22544A-7EE6-4342-B048-85BDC9FD1C3A}</a:tableStyleId>
              </a:tblPr>
              <a:tblGrid>
                <a:gridCol w="1325880"/>
                <a:gridCol w="640080"/>
                <a:gridCol w="3429000"/>
                <a:gridCol w="640080"/>
              </a:tblGrid>
              <a:tr h="365760">
                <a:tc>
                  <a:txBody>
                    <a:bodyPr wrap="square"/>
                    <a:lstStyle/>
                    <a:p>
                      <a:r>
                        <a:rPr sz="1200" b="1" i="0">
                          <a:latin typeface="Times New Roman"/>
                          <a:cs typeface="Times New Roman"/>
                        </a:rPr>
                        <a:t>Group</a:t>
                      </a:r>
                    </a:p>
                  </a:txBody>
                  <a:tcPr marL="45720" marR="45720" marT="22860" marB="22860"/>
                </a:tc>
                <a:tc>
                  <a:txBody>
                    <a:bodyPr wrap="square"/>
                    <a:lstStyle/>
                    <a:p>
                      <a:pPr algn="ctr"/>
                      <a:r>
                        <a:rPr sz="1200" b="1" i="0">
                          <a:latin typeface="Times New Roman"/>
                          <a:cs typeface="Times New Roman"/>
                        </a:rPr>
                        <a:t>Tasks</a:t>
                      </a:r>
                    </a:p>
                  </a:txBody>
                  <a:tcPr marL="45720" marR="45720" marT="22860" marB="22860"/>
                </a:tc>
                <a:tc>
                  <a:txBody>
                    <a:bodyPr wrap="square"/>
                    <a:lstStyle/>
                    <a:p>
                      <a:r>
                        <a:rPr sz="1200" b="1" i="0">
                          <a:latin typeface="Times New Roman"/>
                          <a:cs typeface="Times New Roman"/>
                        </a:rPr>
                        <a:t>Content</a:t>
                      </a:r>
                    </a:p>
                  </a:txBody>
                  <a:tcPr marL="45720" marR="45720" marT="22860" marB="22860"/>
                </a:tc>
                <a:tc>
                  <a:txBody>
                    <a:bodyPr wrap="square"/>
                    <a:lstStyle/>
                    <a:p>
                      <a:pPr algn="ctr"/>
                      <a:r>
                        <a:rPr sz="1200" b="1" i="0">
                          <a:latin typeface="Times New Roman"/>
                          <a:cs typeface="Times New Roman"/>
                        </a:rPr>
                        <a:t>RQ</a:t>
                      </a:r>
                    </a:p>
                  </a:txBody>
                  <a:tcPr marL="45720" marR="45720" marT="22860" marB="22860"/>
                </a:tc>
              </a:tr>
              <a:tr h="283464">
                <a:tc>
                  <a:txBody>
                    <a:bodyPr wrap="square"/>
                    <a:lstStyle/>
                    <a:p>
                      <a:r>
                        <a:rPr sz="1200" b="0" i="0">
                          <a:latin typeface="Times New Roman"/>
                          <a:cs typeface="Times New Roman"/>
                        </a:rPr>
                        <a:t>Exploration</a:t>
                      </a:r>
                    </a:p>
                  </a:txBody>
                  <a:tcPr marL="45720" marR="45720" marT="22860" marB="22860"/>
                </a:tc>
                <a:tc>
                  <a:txBody>
                    <a:bodyPr wrap="square"/>
                    <a:lstStyle/>
                    <a:p>
                      <a:pPr algn="ctr"/>
                      <a:r>
                        <a:rPr sz="1200" b="0" i="0">
                          <a:latin typeface="Times New Roman"/>
                          <a:cs typeface="Times New Roman"/>
                        </a:rPr>
                        <a:t>8</a:t>
                      </a:r>
                    </a:p>
                  </a:txBody>
                  <a:tcPr marL="45720" marR="45720" marT="22860" marB="22860"/>
                </a:tc>
                <a:tc>
                  <a:txBody>
                    <a:bodyPr wrap="square"/>
                    <a:lstStyle/>
                    <a:p>
                      <a:r>
                        <a:rPr sz="1200" b="0" i="0">
                          <a:latin typeface="Times New Roman"/>
                          <a:cs typeface="Times New Roman"/>
                        </a:rPr>
                        <a:t>Cover every action of A and B</a:t>
                      </a:r>
                    </a:p>
                  </a:txBody>
                  <a:tcPr marL="45720" marR="45720" marT="22860" marB="22860"/>
                </a:tc>
                <a:tc>
                  <a:txBody>
                    <a:bodyPr wrap="square"/>
                    <a:lstStyle/>
                    <a:p>
                      <a:pPr algn="ctr"/>
                      <a:r>
                        <a:rPr sz="1200" b="0" i="0">
                          <a:latin typeface="Times New Roman"/>
                          <a:cs typeface="Times New Roman"/>
                        </a:rPr>
                        <a:t>RQ1</a:t>
                      </a:r>
                    </a:p>
                  </a:txBody>
                  <a:tcPr marL="45720" marR="45720" marT="22860" marB="22860"/>
                </a:tc>
              </a:tr>
              <a:tr h="283464">
                <a:tc>
                  <a:txBody>
                    <a:bodyPr wrap="square"/>
                    <a:lstStyle/>
                    <a:p>
                      <a:r>
                        <a:rPr sz="1200" b="0" i="0">
                          <a:latin typeface="Times New Roman"/>
                          <a:cs typeface="Times New Roman"/>
                        </a:rPr>
                        <a:t>Held-out</a:t>
                      </a:r>
                    </a:p>
                  </a:txBody>
                  <a:tcPr marL="45720" marR="45720" marT="22860" marB="22860"/>
                </a:tc>
                <a:tc>
                  <a:txBody>
                    <a:bodyPr wrap="square"/>
                    <a:lstStyle/>
                    <a:p>
                      <a:pPr algn="ctr"/>
                      <a:r>
                        <a:rPr sz="1200" b="0" i="0">
                          <a:latin typeface="Times New Roman"/>
                          <a:cs typeface="Times New Roman"/>
                        </a:rPr>
                        <a:t>8</a:t>
                      </a:r>
                    </a:p>
                  </a:txBody>
                  <a:tcPr marL="45720" marR="45720" marT="22860" marB="22860"/>
                </a:tc>
                <a:tc>
                  <a:txBody>
                    <a:bodyPr wrap="square"/>
                    <a:lstStyle/>
                    <a:p>
                      <a:r>
                        <a:rPr sz="1200" b="0" i="0">
                          <a:latin typeface="Times New Roman"/>
                          <a:cs typeface="Times New Roman"/>
                        </a:rPr>
                        <a:t>New goals over explored actions</a:t>
                      </a:r>
                    </a:p>
                  </a:txBody>
                  <a:tcPr marL="45720" marR="45720" marT="22860" marB="22860"/>
                </a:tc>
                <a:tc>
                  <a:txBody>
                    <a:bodyPr wrap="square"/>
                    <a:lstStyle/>
                    <a:p>
                      <a:pPr algn="ctr"/>
                      <a:r>
                        <a:rPr sz="1200" b="0" i="0">
                          <a:latin typeface="Times New Roman"/>
                          <a:cs typeface="Times New Roman"/>
                        </a:rPr>
                        <a:t>RQ2</a:t>
                      </a:r>
                    </a:p>
                  </a:txBody>
                  <a:tcPr marL="45720" marR="45720" marT="22860" marB="22860"/>
                </a:tc>
              </a:tr>
              <a:tr h="283464">
                <a:tc>
                  <a:txBody>
                    <a:bodyPr wrap="square"/>
                    <a:lstStyle/>
                    <a:p>
                      <a:r>
                        <a:rPr sz="1200" b="0" i="0">
                          <a:latin typeface="Times New Roman"/>
                          <a:cs typeface="Times New Roman"/>
                        </a:rPr>
                        <a:t>Composition</a:t>
                      </a:r>
                    </a:p>
                  </a:txBody>
                  <a:tcPr marL="45720" marR="45720" marT="22860" marB="22860"/>
                </a:tc>
                <a:tc>
                  <a:txBody>
                    <a:bodyPr wrap="square"/>
                    <a:lstStyle/>
                    <a:p>
                      <a:pPr algn="ctr"/>
                      <a:r>
                        <a:rPr sz="1200" b="0" i="0">
                          <a:latin typeface="Times New Roman"/>
                          <a:cs typeface="Times New Roman"/>
                        </a:rPr>
                        <a:t>6</a:t>
                      </a:r>
                    </a:p>
                  </a:txBody>
                  <a:tcPr marL="45720" marR="45720" marT="22860" marB="22860"/>
                </a:tc>
                <a:tc>
                  <a:txBody>
                    <a:bodyPr wrap="square"/>
                    <a:lstStyle/>
                    <a:p>
                      <a:r>
                        <a:rPr sz="1200" b="0" i="0">
                          <a:latin typeface="Times New Roman"/>
                          <a:cs typeface="Times New Roman"/>
                        </a:rPr>
                        <a:t>Several parts, combining explored actions</a:t>
                      </a:r>
                    </a:p>
                  </a:txBody>
                  <a:tcPr marL="45720" marR="45720" marT="22860" marB="22860"/>
                </a:tc>
                <a:tc>
                  <a:txBody>
                    <a:bodyPr wrap="square"/>
                    <a:lstStyle/>
                    <a:p>
                      <a:pPr algn="ctr"/>
                      <a:r>
                        <a:rPr sz="1200" b="0" i="0">
                          <a:latin typeface="Times New Roman"/>
                          <a:cs typeface="Times New Roman"/>
                        </a:rPr>
                        <a:t>RQ3</a:t>
                      </a:r>
                    </a:p>
                  </a:txBody>
                  <a:tcPr marL="45720" marR="45720" marT="22860" marB="22860"/>
                </a:tc>
              </a:tr>
              <a:tr h="283464">
                <a:tc>
                  <a:txBody>
                    <a:bodyPr wrap="square"/>
                    <a:lstStyle/>
                    <a:p>
                      <a:r>
                        <a:rPr sz="1200" b="0" i="0">
                          <a:latin typeface="Times New Roman"/>
                          <a:cs typeface="Times New Roman"/>
                        </a:rPr>
                        <a:t>Layout shift</a:t>
                      </a:r>
                    </a:p>
                  </a:txBody>
                  <a:tcPr marL="45720" marR="45720" marT="22860" marB="22860"/>
                </a:tc>
                <a:tc>
                  <a:txBody>
                    <a:bodyPr wrap="square"/>
                    <a:lstStyle/>
                    <a:p>
                      <a:pPr algn="ctr"/>
                      <a:r>
                        <a:rPr sz="1200" b="0" i="0">
                          <a:latin typeface="Times New Roman"/>
                          <a:cs typeface="Times New Roman"/>
                        </a:rPr>
                        <a:t>8</a:t>
                      </a:r>
                    </a:p>
                  </a:txBody>
                  <a:tcPr marL="45720" marR="45720" marT="22860" marB="22860"/>
                </a:tc>
                <a:tc>
                  <a:txBody>
                    <a:bodyPr wrap="square"/>
                    <a:lstStyle/>
                    <a:p>
                      <a:r>
                        <a:rPr sz="1200" b="0" i="0">
                          <a:latin typeface="Times New Roman"/>
                          <a:cs typeface="Times New Roman"/>
                        </a:rPr>
                        <a:t>Held-out goals in unseen layouts</a:t>
                      </a:r>
                    </a:p>
                  </a:txBody>
                  <a:tcPr marL="45720" marR="45720" marT="22860" marB="22860"/>
                </a:tc>
                <a:tc>
                  <a:txBody>
                    <a:bodyPr wrap="square"/>
                    <a:lstStyle/>
                    <a:p>
                      <a:pPr algn="ctr"/>
                      <a:r>
                        <a:rPr sz="1200" b="0" i="0">
                          <a:latin typeface="Times New Roman"/>
                          <a:cs typeface="Times New Roman"/>
                        </a:rPr>
                        <a:t>RQ4</a:t>
                      </a:r>
                    </a:p>
                  </a:txBody>
                  <a:tcPr marL="45720" marR="45720" marT="22860" marB="22860"/>
                </a:tc>
              </a:tr>
              <a:tr h="283464">
                <a:tc>
                  <a:txBody>
                    <a:bodyPr wrap="square"/>
                    <a:lstStyle/>
                    <a:p>
                      <a:r>
                        <a:rPr sz="1200" b="0" i="0">
                          <a:latin typeface="Times New Roman"/>
                          <a:cs typeface="Times New Roman"/>
                        </a:rPr>
                        <a:t>Unavailable</a:t>
                      </a:r>
                    </a:p>
                  </a:txBody>
                  <a:tcPr marL="45720" marR="45720" marT="22860" marB="22860"/>
                </a:tc>
                <a:tc>
                  <a:txBody>
                    <a:bodyPr wrap="square"/>
                    <a:lstStyle/>
                    <a:p>
                      <a:pPr algn="ctr"/>
                      <a:r>
                        <a:rPr sz="1200" b="0" i="0">
                          <a:latin typeface="Times New Roman"/>
                          <a:cs typeface="Times New Roman"/>
                        </a:rPr>
                        <a:t>9</a:t>
                      </a:r>
                    </a:p>
                  </a:txBody>
                  <a:tcPr marL="45720" marR="45720" marT="22860" marB="22860"/>
                </a:tc>
                <a:tc>
                  <a:txBody>
                    <a:bodyPr wrap="square"/>
                    <a:lstStyle/>
                    <a:p>
                      <a:r>
                        <a:rPr sz="1200" b="0" i="0">
                          <a:latin typeface="Times New Roman"/>
                          <a:cs typeface="Times New Roman"/>
                        </a:rPr>
                        <a:t>Impossible for the user's role</a:t>
                      </a:r>
                    </a:p>
                  </a:txBody>
                  <a:tcPr marL="45720" marR="45720" marT="22860" marB="22860"/>
                </a:tc>
                <a:tc>
                  <a:txBody>
                    <a:bodyPr wrap="square"/>
                    <a:lstStyle/>
                    <a:p>
                      <a:pPr algn="ctr"/>
                      <a:r>
                        <a:rPr sz="1200" b="0" i="0">
                          <a:latin typeface="Times New Roman"/>
                          <a:cs typeface="Times New Roman"/>
                        </a:rPr>
                        <a:t>RQ5</a:t>
                      </a:r>
                    </a:p>
                  </a:txBody>
                  <a:tcPr marL="45720" marR="45720" marT="22860" marB="22860"/>
                </a:tc>
              </a:tr>
              <a:tr h="283464">
                <a:tc>
                  <a:txBody>
                    <a:bodyPr wrap="square"/>
                    <a:lstStyle/>
                    <a:p>
                      <a:r>
                        <a:rPr sz="1200" b="0" i="0">
                          <a:latin typeface="Times New Roman"/>
                          <a:cs typeface="Times New Roman"/>
                        </a:rPr>
                        <a:t>Unseen app</a:t>
                      </a:r>
                    </a:p>
                  </a:txBody>
                  <a:tcPr marL="45720" marR="45720" marT="22860" marB="22860"/>
                </a:tc>
                <a:tc>
                  <a:txBody>
                    <a:bodyPr wrap="square"/>
                    <a:lstStyle/>
                    <a:p>
                      <a:pPr algn="ctr"/>
                      <a:r>
                        <a:rPr sz="1200" b="0" i="0">
                          <a:latin typeface="Times New Roman"/>
                          <a:cs typeface="Times New Roman"/>
                        </a:rPr>
                        <a:t>8</a:t>
                      </a:r>
                    </a:p>
                  </a:txBody>
                  <a:tcPr marL="45720" marR="45720" marT="22860" marB="22860"/>
                </a:tc>
                <a:tc>
                  <a:txBody>
                    <a:bodyPr wrap="square"/>
                    <a:lstStyle/>
                    <a:p>
                      <a:r>
                        <a:rPr sz="1200" b="0" i="0">
                          <a:latin typeface="Times New Roman"/>
                          <a:cs typeface="Times New Roman"/>
                        </a:rPr>
                        <a:t>Application C, no exploration</a:t>
                      </a:r>
                    </a:p>
                  </a:txBody>
                  <a:tcPr marL="45720" marR="45720" marT="22860" marB="22860"/>
                </a:tc>
                <a:tc>
                  <a:txBody>
                    <a:bodyPr wrap="square"/>
                    <a:lstStyle/>
                    <a:p>
                      <a:pPr algn="ctr"/>
                      <a:r>
                        <a:rPr sz="1200" b="0" i="0">
                          <a:latin typeface="Times New Roman"/>
                          <a:cs typeface="Times New Roman"/>
                        </a:rPr>
                        <a:t>RQ6</a:t>
                      </a:r>
                    </a:p>
                  </a:txBody>
                  <a:tcPr marL="45720" marR="45720" marT="22860" marB="22860"/>
                </a:tc>
              </a:tr>
            </a:tbl>
          </a:graphicData>
        </a:graphic>
      </p:graphicFrame>
      <p:sp>
        <p:nvSpPr>
          <p:cNvPr id="11" name="TextBox 10"/>
          <p:cNvSpPr txBox="1"/>
          <p:nvPr/>
        </p:nvSpPr>
        <p:spPr>
          <a:xfrm>
            <a:off x="6766560" y="1280160"/>
            <a:ext cx="5029200" cy="4937760"/>
          </a:xfrm>
          <a:prstGeom prst="rect">
            <a:avLst/>
          </a:prstGeom>
          <a:noFill/>
        </p:spPr>
        <p:txBody>
          <a:bodyPr wrap="square" lIns="45720" rIns="45720" tIns="27432" bIns="27432" anchor="t">
            <a:noAutofit/>
          </a:bodyPr>
          <a:lstStyle/>
          <a:p>
            <a:pPr marL="0" indent="0">
              <a:lnSpc>
                <a:spcPct val="100000"/>
              </a:lnSpc>
              <a:spcBef>
                <a:spcPts val="0"/>
              </a:spcBef>
              <a:spcAft>
                <a:spcPts val="500"/>
              </a:spcAft>
              <a:buNone/>
            </a:pPr>
            <a:r>
              <a:rPr sz="1300" b="1" i="0">
                <a:latin typeface="Times New Roman"/>
                <a:cs typeface="Times New Roman"/>
              </a:rPr>
              <a:t>Protocol</a:t>
            </a:r>
          </a:p>
          <a:p>
            <a:pPr marL="228600" indent="-228600">
              <a:lnSpc>
                <a:spcPct val="100000"/>
              </a:lnSpc>
              <a:spcBef>
                <a:spcPts val="0"/>
              </a:spcBef>
              <a:spcAft>
                <a:spcPts val="500"/>
              </a:spcAft>
              <a:buFont typeface="Arial"/>
              <a:buChar char="•"/>
            </a:pPr>
            <a:r>
              <a:rPr sz="1300" b="0" i="0">
                <a:latin typeface="Times New Roman"/>
                <a:cs typeface="Times New Roman"/>
              </a:rPr>
              <a:t>Three memory modes of the same agent: none, passive (learns from its own tasks) and active (passive + 150-step experiment phase).</a:t>
            </a:r>
          </a:p>
          <a:p>
            <a:pPr marL="228600" indent="-228600">
              <a:lnSpc>
                <a:spcPct val="100000"/>
              </a:lnSpc>
              <a:spcBef>
                <a:spcPts val="0"/>
              </a:spcBef>
              <a:spcAft>
                <a:spcPts val="500"/>
              </a:spcAft>
              <a:buFont typeface="Arial"/>
              <a:buChar char="•"/>
            </a:pPr>
            <a:r>
              <a:rPr sz="1300" b="0" i="0">
                <a:latin typeface="Times New Roman"/>
                <a:cs typeface="Times New Roman"/>
              </a:rPr>
              <a:t>3 seeds x 47 tasks = 141 task runs per mode; LLM pinned to gemini-3.5-flash-lite.</a:t>
            </a:r>
          </a:p>
          <a:p>
            <a:pPr marL="228600" indent="-228600">
              <a:lnSpc>
                <a:spcPct val="100000"/>
              </a:lnSpc>
              <a:spcBef>
                <a:spcPts val="0"/>
              </a:spcBef>
              <a:spcAft>
                <a:spcPts val="500"/>
              </a:spcAft>
              <a:buFont typeface="Arial"/>
              <a:buChar char="•"/>
            </a:pPr>
            <a:r>
              <a:rPr sz="1300" b="0" i="0">
                <a:latin typeface="Times New Roman"/>
                <a:cs typeface="Times New Roman"/>
              </a:rPr>
              <a:t>A hidden evaluator scores the final application state; Wilson 95% intervals, exact McNemar and sign-flip tests.</a:t>
            </a:r>
          </a:p>
          <a:p>
            <a:pPr marL="0" indent="0">
              <a:lnSpc>
                <a:spcPct val="100000"/>
              </a:lnSpc>
              <a:spcBef>
                <a:spcPts val="0"/>
              </a:spcBef>
              <a:spcAft>
                <a:spcPts val="500"/>
              </a:spcAft>
              <a:buNone/>
            </a:pPr>
            <a:r>
              <a:rPr sz="1300" b="1" i="0">
                <a:latin typeface="Times New Roman"/>
                <a:cs typeface="Times New Roman"/>
              </a:rPr>
              <a:t>Validation checks</a:t>
            </a:r>
          </a:p>
          <a:p>
            <a:pPr marL="228600" indent="-228600">
              <a:lnSpc>
                <a:spcPct val="100000"/>
              </a:lnSpc>
              <a:spcBef>
                <a:spcPts val="0"/>
              </a:spcBef>
              <a:spcAft>
                <a:spcPts val="500"/>
              </a:spcAft>
              <a:buFont typeface="Arial"/>
              <a:buChar char="•"/>
            </a:pPr>
            <a:r>
              <a:rPr sz="1300" b="0" i="0">
                <a:latin typeface="Times New Roman"/>
                <a:cs typeface="Times New Roman"/>
              </a:rPr>
              <a:t>337 automated tests pass, including a real headless-Chromium flow.</a:t>
            </a:r>
          </a:p>
          <a:p>
            <a:pPr marL="228600" indent="-228600">
              <a:lnSpc>
                <a:spcPct val="100000"/>
              </a:lnSpc>
              <a:spcBef>
                <a:spcPts val="0"/>
              </a:spcBef>
              <a:spcAft>
                <a:spcPts val="500"/>
              </a:spcAft>
              <a:buFont typeface="Arial"/>
              <a:buChar char="•"/>
            </a:pPr>
            <a:r>
              <a:rPr sz="1300" b="0" i="0">
                <a:latin typeface="Times New Roman"/>
                <a:cs typeface="Times New Roman"/>
              </a:rPr>
              <a:t>Symbolic benchmark check: PASS on 117 task-layout runs covering 38 actions.</a:t>
            </a:r>
          </a:p>
          <a:p>
            <a:pPr marL="228600" indent="-228600">
              <a:lnSpc>
                <a:spcPct val="100000"/>
              </a:lnSpc>
              <a:spcBef>
                <a:spcPts val="0"/>
              </a:spcBef>
              <a:spcAft>
                <a:spcPts val="500"/>
              </a:spcAft>
              <a:buFont typeface="Arial"/>
              <a:buChar char="•"/>
            </a:pPr>
            <a:r>
              <a:rPr sz="1300" b="0" i="0">
                <a:latin typeface="Times New Roman"/>
                <a:cs typeface="Times New Roman"/>
              </a:rPr>
              <a:t>Fixed-policy calibration (real screenshot, OCR and click loop): all 117 runs pass.</a:t>
            </a:r>
          </a:p>
          <a:p>
            <a:pPr marL="228600" indent="-228600">
              <a:lnSpc>
                <a:spcPct val="100000"/>
              </a:lnSpc>
              <a:spcBef>
                <a:spcPts val="0"/>
              </a:spcBef>
              <a:spcAft>
                <a:spcPts val="500"/>
              </a:spcAft>
              <a:buFont typeface="Arial"/>
              <a:buChar char="•"/>
            </a:pPr>
            <a:r>
              <a:rPr sz="1300" b="0" i="0">
                <a:latin typeface="Times New Roman"/>
                <a:cs typeface="Times New Roman"/>
              </a:rPr>
              <a:t>Disabled-control check: precision 1.00 on every set; recall 1.00 on the lab apps, 0.29 on Gitea.</a:t>
            </a:r>
          </a:p>
        </p:txBody>
      </p:sp>
    </p:spTree>
    <p:extLst>
      <p:ext uri="{BB962C8B-B14F-4D97-AF65-F5344CB8AC3E}">
        <p14:creationId xmlns:p14="http://schemas.microsoft.com/office/powerpoint/2010/main" val="3666188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 Task Success and Cost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D376B32-FA12-4961-0DBF-EE57A7705BF9}"/>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11480" y="1325880"/>
          <a:ext cx="6126480" cy="2926080"/>
        </p:xfrm>
        <a:graphic>
          <a:graphicData uri="http://schemas.openxmlformats.org/drawingml/2006/table">
            <a:tbl>
              <a:tblPr firstRow="1" bandRow="1">
                <a:tableStyleId>{5C22544A-7EE6-4342-B048-85BDC9FD1C3A}</a:tableStyleId>
              </a:tblPr>
              <a:tblGrid>
                <a:gridCol w="2331720"/>
                <a:gridCol w="1234440"/>
                <a:gridCol w="1234440"/>
                <a:gridCol w="1325880"/>
              </a:tblGrid>
              <a:tr h="365760">
                <a:tc>
                  <a:txBody>
                    <a:bodyPr wrap="square"/>
                    <a:lstStyle/>
                    <a:p>
                      <a:r>
                        <a:rPr sz="1200" b="1" i="0">
                          <a:latin typeface="Times New Roman"/>
                          <a:cs typeface="Times New Roman"/>
                        </a:rPr>
                        <a:t>Group (solved, LLM calls/task)</a:t>
                      </a:r>
                    </a:p>
                  </a:txBody>
                  <a:tcPr marL="45720" marR="45720" marT="22860" marB="22860"/>
                </a:tc>
                <a:tc>
                  <a:txBody>
                    <a:bodyPr wrap="square"/>
                    <a:lstStyle/>
                    <a:p>
                      <a:pPr algn="ctr"/>
                      <a:r>
                        <a:rPr sz="1200" b="1" i="0">
                          <a:latin typeface="Times New Roman"/>
                          <a:cs typeface="Times New Roman"/>
                        </a:rPr>
                        <a:t>None</a:t>
                      </a:r>
                    </a:p>
                  </a:txBody>
                  <a:tcPr marL="45720" marR="45720" marT="22860" marB="22860"/>
                </a:tc>
                <a:tc>
                  <a:txBody>
                    <a:bodyPr wrap="square"/>
                    <a:lstStyle/>
                    <a:p>
                      <a:pPr algn="ctr"/>
                      <a:r>
                        <a:rPr sz="1200" b="1" i="0">
                          <a:latin typeface="Times New Roman"/>
                          <a:cs typeface="Times New Roman"/>
                        </a:rPr>
                        <a:t>Passive</a:t>
                      </a:r>
                    </a:p>
                  </a:txBody>
                  <a:tcPr marL="45720" marR="45720" marT="22860" marB="22860"/>
                </a:tc>
                <a:tc>
                  <a:txBody>
                    <a:bodyPr wrap="square"/>
                    <a:lstStyle/>
                    <a:p>
                      <a:pPr algn="ctr"/>
                      <a:r>
                        <a:rPr sz="1200" b="1" i="0">
                          <a:latin typeface="Times New Roman"/>
                          <a:cs typeface="Times New Roman"/>
                        </a:rPr>
                        <a:t>Active</a:t>
                      </a:r>
                    </a:p>
                  </a:txBody>
                  <a:tcPr marL="45720" marR="45720" marT="22860" marB="22860"/>
                </a:tc>
              </a:tr>
              <a:tr h="365760">
                <a:tc>
                  <a:txBody>
                    <a:bodyPr wrap="square"/>
                    <a:lstStyle/>
                    <a:p>
                      <a:r>
                        <a:rPr sz="1200" b="1" i="0">
                          <a:latin typeface="Times New Roman"/>
                          <a:cs typeface="Times New Roman"/>
                        </a:rPr>
                        <a:t>Exploration</a:t>
                      </a:r>
                    </a:p>
                  </a:txBody>
                  <a:tcPr marL="45720" marR="45720" marT="22860" marB="22860"/>
                </a:tc>
                <a:tc>
                  <a:txBody>
                    <a:bodyPr wrap="square"/>
                    <a:lstStyle/>
                    <a:p>
                      <a:pPr algn="ctr"/>
                      <a:r>
                        <a:rPr sz="1200" b="0" i="0">
                          <a:latin typeface="Times New Roman"/>
                          <a:cs typeface="Times New Roman"/>
                        </a:rPr>
                        <a:t>11/24, 18.2</a:t>
                      </a:r>
                    </a:p>
                  </a:txBody>
                  <a:tcPr marL="45720" marR="45720" marT="22860" marB="22860"/>
                </a:tc>
                <a:tc>
                  <a:txBody>
                    <a:bodyPr wrap="square"/>
                    <a:lstStyle/>
                    <a:p>
                      <a:pPr algn="ctr"/>
                      <a:r>
                        <a:rPr sz="1200" b="0" i="0">
                          <a:latin typeface="Times New Roman"/>
                          <a:cs typeface="Times New Roman"/>
                        </a:rPr>
                        <a:t>10/24, 16.0</a:t>
                      </a:r>
                    </a:p>
                  </a:txBody>
                  <a:tcPr marL="45720" marR="45720" marT="22860" marB="22860"/>
                </a:tc>
                <a:tc>
                  <a:txBody>
                    <a:bodyPr wrap="square"/>
                    <a:lstStyle/>
                    <a:p>
                      <a:pPr algn="ctr"/>
                      <a:r>
                        <a:rPr sz="1200" b="0" i="0">
                          <a:latin typeface="Times New Roman"/>
                          <a:cs typeface="Times New Roman"/>
                        </a:rPr>
                        <a:t>12/24, 16.0</a:t>
                      </a:r>
                    </a:p>
                  </a:txBody>
                  <a:tcPr marL="45720" marR="45720" marT="22860" marB="22860"/>
                </a:tc>
              </a:tr>
              <a:tr h="365760">
                <a:tc>
                  <a:txBody>
                    <a:bodyPr wrap="square"/>
                    <a:lstStyle/>
                    <a:p>
                      <a:r>
                        <a:rPr sz="1200" b="1" i="0">
                          <a:latin typeface="Times New Roman"/>
                          <a:cs typeface="Times New Roman"/>
                        </a:rPr>
                        <a:t>Held-out (RQ2)</a:t>
                      </a:r>
                    </a:p>
                  </a:txBody>
                  <a:tcPr marL="45720" marR="45720" marT="22860" marB="22860"/>
                </a:tc>
                <a:tc>
                  <a:txBody>
                    <a:bodyPr wrap="square"/>
                    <a:lstStyle/>
                    <a:p>
                      <a:pPr algn="ctr"/>
                      <a:r>
                        <a:rPr sz="1200" b="0" i="0">
                          <a:latin typeface="Times New Roman"/>
                          <a:cs typeface="Times New Roman"/>
                        </a:rPr>
                        <a:t>11/24, 11.8</a:t>
                      </a:r>
                    </a:p>
                  </a:txBody>
                  <a:tcPr marL="45720" marR="45720" marT="22860" marB="22860"/>
                </a:tc>
                <a:tc>
                  <a:txBody>
                    <a:bodyPr wrap="square"/>
                    <a:lstStyle/>
                    <a:p>
                      <a:pPr algn="ctr"/>
                      <a:r>
                        <a:rPr sz="1200" b="0" i="0">
                          <a:latin typeface="Times New Roman"/>
                          <a:cs typeface="Times New Roman"/>
                        </a:rPr>
                        <a:t>13/24, 6.7</a:t>
                      </a:r>
                    </a:p>
                  </a:txBody>
                  <a:tcPr marL="45720" marR="45720" marT="22860" marB="22860"/>
                </a:tc>
                <a:tc>
                  <a:txBody>
                    <a:bodyPr wrap="square"/>
                    <a:lstStyle/>
                    <a:p>
                      <a:pPr algn="ctr"/>
                      <a:r>
                        <a:rPr sz="1200" b="1" i="0">
                          <a:latin typeface="Times New Roman"/>
                          <a:cs typeface="Times New Roman"/>
                        </a:rPr>
                        <a:t>16/24, 6.1</a:t>
                      </a:r>
                    </a:p>
                  </a:txBody>
                  <a:tcPr marL="45720" marR="45720" marT="22860" marB="22860"/>
                </a:tc>
              </a:tr>
              <a:tr h="365760">
                <a:tc>
                  <a:txBody>
                    <a:bodyPr wrap="square"/>
                    <a:lstStyle/>
                    <a:p>
                      <a:r>
                        <a:rPr sz="1200" b="1" i="0">
                          <a:latin typeface="Times New Roman"/>
                          <a:cs typeface="Times New Roman"/>
                        </a:rPr>
                        <a:t>Composition (RQ3)</a:t>
                      </a:r>
                    </a:p>
                  </a:txBody>
                  <a:tcPr marL="45720" marR="45720" marT="22860" marB="22860"/>
                </a:tc>
                <a:tc>
                  <a:txBody>
                    <a:bodyPr wrap="square"/>
                    <a:lstStyle/>
                    <a:p>
                      <a:pPr algn="ctr"/>
                      <a:r>
                        <a:rPr sz="1200" b="0" i="0">
                          <a:latin typeface="Times New Roman"/>
                          <a:cs typeface="Times New Roman"/>
                        </a:rPr>
                        <a:t>2/18, 26.2</a:t>
                      </a:r>
                    </a:p>
                  </a:txBody>
                  <a:tcPr marL="45720" marR="45720" marT="22860" marB="22860"/>
                </a:tc>
                <a:tc>
                  <a:txBody>
                    <a:bodyPr wrap="square"/>
                    <a:lstStyle/>
                    <a:p>
                      <a:pPr algn="ctr"/>
                      <a:r>
                        <a:rPr sz="1200" b="0" i="0">
                          <a:latin typeface="Times New Roman"/>
                          <a:cs typeface="Times New Roman"/>
                        </a:rPr>
                        <a:t>4/18, 14.9</a:t>
                      </a:r>
                    </a:p>
                  </a:txBody>
                  <a:tcPr marL="45720" marR="45720" marT="22860" marB="22860"/>
                </a:tc>
                <a:tc>
                  <a:txBody>
                    <a:bodyPr wrap="square"/>
                    <a:lstStyle/>
                    <a:p>
                      <a:pPr algn="ctr"/>
                      <a:r>
                        <a:rPr sz="1200" b="1" i="0">
                          <a:latin typeface="Times New Roman"/>
                          <a:cs typeface="Times New Roman"/>
                        </a:rPr>
                        <a:t>10/18, 14.2</a:t>
                      </a:r>
                    </a:p>
                  </a:txBody>
                  <a:tcPr marL="45720" marR="45720" marT="22860" marB="22860"/>
                </a:tc>
              </a:tr>
              <a:tr h="365760">
                <a:tc>
                  <a:txBody>
                    <a:bodyPr wrap="square"/>
                    <a:lstStyle/>
                    <a:p>
                      <a:r>
                        <a:rPr sz="1200" b="1" i="0">
                          <a:latin typeface="Times New Roman"/>
                          <a:cs typeface="Times New Roman"/>
                        </a:rPr>
                        <a:t>Layout shift (RQ4)</a:t>
                      </a:r>
                    </a:p>
                  </a:txBody>
                  <a:tcPr marL="45720" marR="45720" marT="22860" marB="22860"/>
                </a:tc>
                <a:tc>
                  <a:txBody>
                    <a:bodyPr wrap="square"/>
                    <a:lstStyle/>
                    <a:p>
                      <a:pPr algn="ctr"/>
                      <a:r>
                        <a:rPr sz="1200" b="0" i="0">
                          <a:latin typeface="Times New Roman"/>
                          <a:cs typeface="Times New Roman"/>
                        </a:rPr>
                        <a:t>9/24, 19.6</a:t>
                      </a:r>
                    </a:p>
                  </a:txBody>
                  <a:tcPr marL="45720" marR="45720" marT="22860" marB="22860"/>
                </a:tc>
                <a:tc>
                  <a:txBody>
                    <a:bodyPr wrap="square"/>
                    <a:lstStyle/>
                    <a:p>
                      <a:pPr algn="ctr"/>
                      <a:r>
                        <a:rPr sz="1200" b="0" i="0">
                          <a:latin typeface="Times New Roman"/>
                          <a:cs typeface="Times New Roman"/>
                        </a:rPr>
                        <a:t>10/24, 15.6</a:t>
                      </a:r>
                    </a:p>
                  </a:txBody>
                  <a:tcPr marL="45720" marR="45720" marT="22860" marB="22860"/>
                </a:tc>
                <a:tc>
                  <a:txBody>
                    <a:bodyPr wrap="square"/>
                    <a:lstStyle/>
                    <a:p>
                      <a:pPr algn="ctr"/>
                      <a:r>
                        <a:rPr sz="1200" b="1" i="0">
                          <a:latin typeface="Times New Roman"/>
                          <a:cs typeface="Times New Roman"/>
                        </a:rPr>
                        <a:t>20/24, 4.4</a:t>
                      </a:r>
                    </a:p>
                  </a:txBody>
                  <a:tcPr marL="45720" marR="45720" marT="22860" marB="22860"/>
                </a:tc>
              </a:tr>
              <a:tr h="365760">
                <a:tc>
                  <a:txBody>
                    <a:bodyPr wrap="square"/>
                    <a:lstStyle/>
                    <a:p>
                      <a:r>
                        <a:rPr sz="1200" b="1" i="0">
                          <a:latin typeface="Times New Roman"/>
                          <a:cs typeface="Times New Roman"/>
                        </a:rPr>
                        <a:t>Unavailable (RQ5)</a:t>
                      </a:r>
                    </a:p>
                  </a:txBody>
                  <a:tcPr marL="45720" marR="45720" marT="22860" marB="22860"/>
                </a:tc>
                <a:tc>
                  <a:txBody>
                    <a:bodyPr wrap="square"/>
                    <a:lstStyle/>
                    <a:p>
                      <a:pPr algn="ctr"/>
                      <a:r>
                        <a:rPr sz="1200" b="0" i="0">
                          <a:latin typeface="Times New Roman"/>
                          <a:cs typeface="Times New Roman"/>
                        </a:rPr>
                        <a:t>0/27, 10.7</a:t>
                      </a:r>
                    </a:p>
                  </a:txBody>
                  <a:tcPr marL="45720" marR="45720" marT="22860" marB="22860"/>
                </a:tc>
                <a:tc>
                  <a:txBody>
                    <a:bodyPr wrap="square"/>
                    <a:lstStyle/>
                    <a:p>
                      <a:pPr algn="ctr"/>
                      <a:r>
                        <a:rPr sz="1200" b="0" i="0">
                          <a:latin typeface="Times New Roman"/>
                          <a:cs typeface="Times New Roman"/>
                        </a:rPr>
                        <a:t>9/27, 8.3</a:t>
                      </a:r>
                    </a:p>
                  </a:txBody>
                  <a:tcPr marL="45720" marR="45720" marT="22860" marB="22860"/>
                </a:tc>
                <a:tc>
                  <a:txBody>
                    <a:bodyPr wrap="square"/>
                    <a:lstStyle/>
                    <a:p>
                      <a:pPr algn="ctr"/>
                      <a:r>
                        <a:rPr sz="1200" b="0" i="0">
                          <a:latin typeface="Times New Roman"/>
                          <a:cs typeface="Times New Roman"/>
                        </a:rPr>
                        <a:t>9/27, 8.4</a:t>
                      </a:r>
                    </a:p>
                  </a:txBody>
                  <a:tcPr marL="45720" marR="45720" marT="22860" marB="22860"/>
                </a:tc>
              </a:tr>
              <a:tr h="365760">
                <a:tc>
                  <a:txBody>
                    <a:bodyPr wrap="square"/>
                    <a:lstStyle/>
                    <a:p>
                      <a:r>
                        <a:rPr sz="1200" b="1" i="0">
                          <a:latin typeface="Times New Roman"/>
                          <a:cs typeface="Times New Roman"/>
                        </a:rPr>
                        <a:t>Unseen app C (RQ6)</a:t>
                      </a:r>
                    </a:p>
                  </a:txBody>
                  <a:tcPr marL="45720" marR="45720" marT="22860" marB="22860"/>
                </a:tc>
                <a:tc>
                  <a:txBody>
                    <a:bodyPr wrap="square"/>
                    <a:lstStyle/>
                    <a:p>
                      <a:pPr algn="ctr"/>
                      <a:r>
                        <a:rPr sz="1200" b="0" i="0">
                          <a:latin typeface="Times New Roman"/>
                          <a:cs typeface="Times New Roman"/>
                        </a:rPr>
                        <a:t>5/24, 16.7</a:t>
                      </a:r>
                    </a:p>
                  </a:txBody>
                  <a:tcPr marL="45720" marR="45720" marT="22860" marB="22860"/>
                </a:tc>
                <a:tc>
                  <a:txBody>
                    <a:bodyPr wrap="square"/>
                    <a:lstStyle/>
                    <a:p>
                      <a:pPr algn="ctr"/>
                      <a:r>
                        <a:rPr sz="1200" b="0" i="0">
                          <a:latin typeface="Times New Roman"/>
                          <a:cs typeface="Times New Roman"/>
                        </a:rPr>
                        <a:t>8/24, 13.9</a:t>
                      </a:r>
                    </a:p>
                  </a:txBody>
                  <a:tcPr marL="45720" marR="45720" marT="22860" marB="22860"/>
                </a:tc>
                <a:tc>
                  <a:txBody>
                    <a:bodyPr wrap="square"/>
                    <a:lstStyle/>
                    <a:p>
                      <a:pPr algn="ctr"/>
                      <a:r>
                        <a:rPr sz="1200" b="0" i="0">
                          <a:latin typeface="Times New Roman"/>
                          <a:cs typeface="Times New Roman"/>
                        </a:rPr>
                        <a:t>7/24, 16.4</a:t>
                      </a:r>
                    </a:p>
                  </a:txBody>
                  <a:tcPr marL="45720" marR="45720" marT="22860" marB="22860"/>
                </a:tc>
              </a:tr>
              <a:tr h="365760">
                <a:tc>
                  <a:txBody>
                    <a:bodyPr wrap="square"/>
                    <a:lstStyle/>
                    <a:p>
                      <a:r>
                        <a:rPr sz="1200" b="1" i="0">
                          <a:latin typeface="Times New Roman"/>
                          <a:cs typeface="Times New Roman"/>
                        </a:rPr>
                        <a:t>All (141 runs)</a:t>
                      </a:r>
                    </a:p>
                  </a:txBody>
                  <a:tcPr marL="45720" marR="45720" marT="22860" marB="22860"/>
                </a:tc>
                <a:tc>
                  <a:txBody>
                    <a:bodyPr wrap="square"/>
                    <a:lstStyle/>
                    <a:p>
                      <a:pPr algn="ctr"/>
                      <a:r>
                        <a:rPr sz="1200" b="0" i="0">
                          <a:latin typeface="Times New Roman"/>
                          <a:cs typeface="Times New Roman"/>
                        </a:rPr>
                        <a:t>38 (27%), 16.7</a:t>
                      </a:r>
                    </a:p>
                  </a:txBody>
                  <a:tcPr marL="45720" marR="45720" marT="22860" marB="22860"/>
                </a:tc>
                <a:tc>
                  <a:txBody>
                    <a:bodyPr wrap="square"/>
                    <a:lstStyle/>
                    <a:p>
                      <a:pPr algn="ctr"/>
                      <a:r>
                        <a:rPr sz="1200" b="0" i="0">
                          <a:latin typeface="Times New Roman"/>
                          <a:cs typeface="Times New Roman"/>
                        </a:rPr>
                        <a:t>54 (38%), 12.4</a:t>
                      </a:r>
                    </a:p>
                  </a:txBody>
                  <a:tcPr marL="45720" marR="45720" marT="22860" marB="22860"/>
                </a:tc>
                <a:tc>
                  <a:txBody>
                    <a:bodyPr wrap="square"/>
                    <a:lstStyle/>
                    <a:p>
                      <a:pPr algn="ctr"/>
                      <a:r>
                        <a:rPr sz="1200" b="1" i="0">
                          <a:latin typeface="Times New Roman"/>
                          <a:cs typeface="Times New Roman"/>
                        </a:rPr>
                        <a:t>74 (52%), 10.7</a:t>
                      </a:r>
                    </a:p>
                  </a:txBody>
                  <a:tcPr marL="45720" marR="45720" marT="22860" marB="22860"/>
                </a:tc>
              </a:tr>
            </a:tbl>
          </a:graphicData>
        </a:graphic>
      </p:graphicFrame>
      <p:sp>
        <p:nvSpPr>
          <p:cNvPr id="8" name="TextBox 7"/>
          <p:cNvSpPr txBox="1"/>
          <p:nvPr/>
        </p:nvSpPr>
        <p:spPr>
          <a:xfrm>
            <a:off x="411480" y="4434840"/>
            <a:ext cx="6126480" cy="1737360"/>
          </a:xfrm>
          <a:prstGeom prst="rect">
            <a:avLst/>
          </a:prstGeom>
          <a:noFill/>
        </p:spPr>
        <p:txBody>
          <a:bodyPr wrap="square" lIns="45720" rIns="45720" tIns="27432" bIns="27432" anchor="t">
            <a:noAutofit/>
          </a:bodyPr>
          <a:lstStyle/>
          <a:p>
            <a:pPr marL="228600" indent="-228600">
              <a:lnSpc>
                <a:spcPct val="100000"/>
              </a:lnSpc>
              <a:spcBef>
                <a:spcPts val="0"/>
              </a:spcBef>
              <a:spcAft>
                <a:spcPts val="600"/>
              </a:spcAft>
              <a:buFont typeface="Arial"/>
              <a:buChar char="•"/>
            </a:pPr>
            <a:r>
              <a:rPr sz="1300" b="0" i="0">
                <a:latin typeface="Times New Roman"/>
                <a:cs typeface="Times New Roman"/>
              </a:rPr>
              <a:t>Ranking held in every seed (solved of 47): none 10, 13, 15; passive 18, 17, 19; active 26, 22, 26.</a:t>
            </a:r>
          </a:p>
          <a:p>
            <a:pPr marL="228600" indent="-228600">
              <a:lnSpc>
                <a:spcPct val="100000"/>
              </a:lnSpc>
              <a:spcBef>
                <a:spcPts val="0"/>
              </a:spcBef>
              <a:spcAft>
                <a:spcPts val="600"/>
              </a:spcAft>
              <a:buFont typeface="Arial"/>
              <a:buChar char="•"/>
            </a:pPr>
            <a:r>
              <a:rPr sz="1300" b="0" i="0">
                <a:latin typeface="Times New Roman"/>
                <a:cs typeface="Times New Roman"/>
              </a:rPr>
              <a:t>Active vs none: 41 runs won, 5 lost (McNemar p &lt; 0.001). Active vs passive: 26 won, 6 lost (p &lt; 0.001); grouping layout variants per goal, p = 0.06.</a:t>
            </a:r>
          </a:p>
        </p:txBody>
      </p:sp>
      <p:pic>
        <p:nvPicPr>
          <p:cNvPr id="9" name="Success by task group and memory mode, three seeds, Wilson 95% intervals" descr="Success by task group and memory mode, three seeds, Wilson 95% intervals"/>
          <p:cNvPicPr>
            <a:picLocks noChangeAspect="1"/>
          </p:cNvPicPr>
          <p:nvPr/>
        </p:nvPicPr>
        <p:blipFill>
          <a:blip r:embed="rId2"/>
          <a:stretch>
            <a:fillRect/>
          </a:stretch>
        </p:blipFill>
        <p:spPr>
          <a:xfrm>
            <a:off x="6675120" y="1280160"/>
            <a:ext cx="5120640" cy="2600960"/>
          </a:xfrm>
          <a:prstGeom prst="rect">
            <a:avLst/>
          </a:prstGeom>
        </p:spPr>
      </p:pic>
      <p:sp>
        <p:nvSpPr>
          <p:cNvPr id="10" name="Rectangle 9"/>
          <p:cNvSpPr/>
          <p:nvPr/>
        </p:nvSpPr>
        <p:spPr>
          <a:xfrm>
            <a:off x="6675120" y="4069080"/>
            <a:ext cx="1627632" cy="14630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4114800"/>
            <a:ext cx="1627632" cy="548640"/>
          </a:xfrm>
          <a:prstGeom prst="rect">
            <a:avLst/>
          </a:prstGeom>
          <a:noFill/>
        </p:spPr>
        <p:txBody>
          <a:bodyPr wrap="square" lIns="45720" rIns="45720" tIns="27432" bIns="27432" anchor="t">
            <a:noAutofit/>
          </a:bodyPr>
          <a:lstStyle/>
          <a:p>
            <a:pPr marL="0" indent="0" algn="ctr">
              <a:lnSpc>
                <a:spcPct val="100000"/>
              </a:lnSpc>
              <a:spcBef>
                <a:spcPts val="0"/>
              </a:spcBef>
              <a:spcAft>
                <a:spcPts val="400"/>
              </a:spcAft>
              <a:buNone/>
            </a:pPr>
            <a:r>
              <a:rPr sz="2800" b="0" i="0">
                <a:solidFill>
                  <a:srgbClr val="1F3A68"/>
                </a:solidFill>
                <a:latin typeface="Times New Roman"/>
                <a:cs typeface="Times New Roman"/>
              </a:rPr>
              <a:t>52%</a:t>
            </a:r>
          </a:p>
        </p:txBody>
      </p:sp>
      <p:sp>
        <p:nvSpPr>
          <p:cNvPr id="12" name="TextBox 11"/>
          <p:cNvSpPr txBox="1"/>
          <p:nvPr/>
        </p:nvSpPr>
        <p:spPr>
          <a:xfrm>
            <a:off x="6675120" y="4681728"/>
            <a:ext cx="1627632" cy="822960"/>
          </a:xfrm>
          <a:prstGeom prst="rect">
            <a:avLst/>
          </a:prstGeom>
          <a:noFill/>
        </p:spPr>
        <p:txBody>
          <a:bodyPr wrap="square" lIns="45720" rIns="45720" tIns="27432" bIns="27432" anchor="t">
            <a:noAutofit/>
          </a:bodyPr>
          <a:lstStyle/>
          <a:p>
            <a:pPr marL="0" indent="0" algn="ctr">
              <a:lnSpc>
                <a:spcPct val="100000"/>
              </a:lnSpc>
              <a:spcBef>
                <a:spcPts val="0"/>
              </a:spcBef>
              <a:spcAft>
                <a:spcPts val="400"/>
              </a:spcAft>
              <a:buNone/>
            </a:pPr>
            <a:r>
              <a:rPr sz="1100" b="0" i="0">
                <a:latin typeface="Times New Roman"/>
                <a:cs typeface="Times New Roman"/>
              </a:rPr>
              <a:t>task runs solved (active)</a:t>
            </a:r>
            <a:br/>
            <a:r>
              <a:rPr sz="1100" b="0" i="0">
                <a:latin typeface="Times New Roman"/>
                <a:cs typeface="Times New Roman"/>
              </a:rPr>
              <a:t>vs 38% passive, 27% none</a:t>
            </a:r>
          </a:p>
        </p:txBody>
      </p:sp>
      <p:sp>
        <p:nvSpPr>
          <p:cNvPr id="13" name="Rectangle 12"/>
          <p:cNvSpPr/>
          <p:nvPr/>
        </p:nvSpPr>
        <p:spPr>
          <a:xfrm>
            <a:off x="8430767" y="4069080"/>
            <a:ext cx="1627632" cy="14630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30767" y="4114800"/>
            <a:ext cx="1627632" cy="548640"/>
          </a:xfrm>
          <a:prstGeom prst="rect">
            <a:avLst/>
          </a:prstGeom>
          <a:noFill/>
        </p:spPr>
        <p:txBody>
          <a:bodyPr wrap="square" lIns="45720" rIns="45720" tIns="27432" bIns="27432" anchor="t">
            <a:noAutofit/>
          </a:bodyPr>
          <a:lstStyle/>
          <a:p>
            <a:pPr marL="0" indent="0" algn="ctr">
              <a:lnSpc>
                <a:spcPct val="100000"/>
              </a:lnSpc>
              <a:spcBef>
                <a:spcPts val="0"/>
              </a:spcBef>
              <a:spcAft>
                <a:spcPts val="400"/>
              </a:spcAft>
              <a:buNone/>
            </a:pPr>
            <a:r>
              <a:rPr sz="2800" b="0" i="0">
                <a:solidFill>
                  <a:srgbClr val="1F3A68"/>
                </a:solidFill>
                <a:latin typeface="Times New Roman"/>
                <a:cs typeface="Times New Roman"/>
              </a:rPr>
              <a:t>-36%</a:t>
            </a:r>
          </a:p>
        </p:txBody>
      </p:sp>
      <p:sp>
        <p:nvSpPr>
          <p:cNvPr id="15" name="TextBox 14"/>
          <p:cNvSpPr txBox="1"/>
          <p:nvPr/>
        </p:nvSpPr>
        <p:spPr>
          <a:xfrm>
            <a:off x="8430767" y="4681728"/>
            <a:ext cx="1627632" cy="822960"/>
          </a:xfrm>
          <a:prstGeom prst="rect">
            <a:avLst/>
          </a:prstGeom>
          <a:noFill/>
        </p:spPr>
        <p:txBody>
          <a:bodyPr wrap="square" lIns="45720" rIns="45720" tIns="27432" bIns="27432" anchor="t">
            <a:noAutofit/>
          </a:bodyPr>
          <a:lstStyle/>
          <a:p>
            <a:pPr marL="0" indent="0" algn="ctr">
              <a:lnSpc>
                <a:spcPct val="100000"/>
              </a:lnSpc>
              <a:spcBef>
                <a:spcPts val="0"/>
              </a:spcBef>
              <a:spcAft>
                <a:spcPts val="400"/>
              </a:spcAft>
              <a:buNone/>
            </a:pPr>
            <a:r>
              <a:rPr sz="1100" b="0" i="0">
                <a:latin typeface="Times New Roman"/>
                <a:cs typeface="Times New Roman"/>
              </a:rPr>
              <a:t>LLM calls per task</a:t>
            </a:r>
            <a:br/>
            <a:r>
              <a:rPr sz="1100" b="0" i="0">
                <a:latin typeface="Times New Roman"/>
                <a:cs typeface="Times New Roman"/>
              </a:rPr>
              <a:t>10.7 vs 16.7 without memory</a:t>
            </a:r>
          </a:p>
        </p:txBody>
      </p:sp>
      <p:sp>
        <p:nvSpPr>
          <p:cNvPr id="16" name="Rectangle 15"/>
          <p:cNvSpPr/>
          <p:nvPr/>
        </p:nvSpPr>
        <p:spPr>
          <a:xfrm>
            <a:off x="10186416" y="4069080"/>
            <a:ext cx="1627632" cy="1463040"/>
          </a:xfrm>
          <a:prstGeom prst="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86416" y="4114800"/>
            <a:ext cx="1627632" cy="548640"/>
          </a:xfrm>
          <a:prstGeom prst="rect">
            <a:avLst/>
          </a:prstGeom>
          <a:noFill/>
        </p:spPr>
        <p:txBody>
          <a:bodyPr wrap="square" lIns="45720" rIns="45720" tIns="27432" bIns="27432" anchor="t">
            <a:noAutofit/>
          </a:bodyPr>
          <a:lstStyle/>
          <a:p>
            <a:pPr marL="0" indent="0" algn="ctr">
              <a:lnSpc>
                <a:spcPct val="100000"/>
              </a:lnSpc>
              <a:spcBef>
                <a:spcPts val="0"/>
              </a:spcBef>
              <a:spcAft>
                <a:spcPts val="400"/>
              </a:spcAft>
              <a:buNone/>
            </a:pPr>
            <a:r>
              <a:rPr sz="2800" b="0" i="0">
                <a:solidFill>
                  <a:srgbClr val="1F3A68"/>
                </a:solidFill>
                <a:latin typeface="Times New Roman"/>
                <a:cs typeface="Times New Roman"/>
              </a:rPr>
              <a:t>20/24</a:t>
            </a:r>
          </a:p>
        </p:txBody>
      </p:sp>
      <p:sp>
        <p:nvSpPr>
          <p:cNvPr id="18" name="TextBox 17"/>
          <p:cNvSpPr txBox="1"/>
          <p:nvPr/>
        </p:nvSpPr>
        <p:spPr>
          <a:xfrm>
            <a:off x="10186416" y="4681728"/>
            <a:ext cx="1627632" cy="822960"/>
          </a:xfrm>
          <a:prstGeom prst="rect">
            <a:avLst/>
          </a:prstGeom>
          <a:noFill/>
        </p:spPr>
        <p:txBody>
          <a:bodyPr wrap="square" lIns="45720" rIns="45720" tIns="27432" bIns="27432" anchor="t">
            <a:noAutofit/>
          </a:bodyPr>
          <a:lstStyle/>
          <a:p>
            <a:pPr marL="0" indent="0" algn="ctr">
              <a:lnSpc>
                <a:spcPct val="100000"/>
              </a:lnSpc>
              <a:spcBef>
                <a:spcPts val="0"/>
              </a:spcBef>
              <a:spcAft>
                <a:spcPts val="400"/>
              </a:spcAft>
              <a:buNone/>
            </a:pPr>
            <a:r>
              <a:rPr sz="1100" b="0" i="0">
                <a:latin typeface="Times New Roman"/>
                <a:cs typeface="Times New Roman"/>
              </a:rPr>
              <a:t>layout-shift runs solved</a:t>
            </a:r>
            <a:br/>
            <a:r>
              <a:rPr sz="1100" b="0" i="0">
                <a:latin typeface="Times New Roman"/>
                <a:cs typeface="Times New Roman"/>
              </a:rPr>
              <a:t>vs 9/24 without memory</a:t>
            </a:r>
          </a:p>
        </p:txBody>
      </p:sp>
    </p:spTree>
    <p:extLst>
      <p:ext uri="{BB962C8B-B14F-4D97-AF65-F5344CB8AC3E}">
        <p14:creationId xmlns:p14="http://schemas.microsoft.com/office/powerpoint/2010/main" val="3666188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 Learned Rules and Ablations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5D376B32-FA12-4961-0DBF-EE57A7705BF9}"/>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
        <p:nvSpPr>
          <p:cNvPr id="7" name="TextBox 6"/>
          <p:cNvSpPr txBox="1"/>
          <p:nvPr/>
        </p:nvSpPr>
        <p:spPr>
          <a:xfrm>
            <a:off x="411480" y="1280160"/>
            <a:ext cx="6035040" cy="320040"/>
          </a:xfrm>
          <a:prstGeom prst="rect">
            <a:avLst/>
          </a:prstGeom>
          <a:noFill/>
        </p:spPr>
        <p:txBody>
          <a:bodyPr wrap="square" lIns="45720" rIns="45720" tIns="27432" bIns="27432" anchor="t">
            <a:noAutofit/>
          </a:bodyPr>
          <a:lstStyle/>
          <a:p>
            <a:pPr marL="0" indent="0">
              <a:lnSpc>
                <a:spcPct val="100000"/>
              </a:lnSpc>
              <a:spcBef>
                <a:spcPts val="0"/>
              </a:spcBef>
              <a:spcAft>
                <a:spcPts val="400"/>
              </a:spcAft>
              <a:buNone/>
            </a:pPr>
            <a:r>
              <a:rPr sz="1300" b="1" i="0">
                <a:latin typeface="Times New Roman"/>
                <a:cs typeface="Times New Roman"/>
              </a:rPr>
              <a:t>Learned rules vs ground truth (precision / recall, mean of 3 seeds)</a:t>
            </a:r>
          </a:p>
        </p:txBody>
      </p:sp>
      <p:graphicFrame>
        <p:nvGraphicFramePr>
          <p:cNvPr id="8" name="Table 7"/>
          <p:cNvGraphicFramePr>
            <a:graphicFrameLocks noGrp="1"/>
          </p:cNvGraphicFramePr>
          <p:nvPr/>
        </p:nvGraphicFramePr>
        <p:xfrm>
          <a:off x="411480" y="1645920"/>
          <a:ext cx="6035040" cy="2011680"/>
        </p:xfrm>
        <a:graphic>
          <a:graphicData uri="http://schemas.openxmlformats.org/drawingml/2006/table">
            <a:tbl>
              <a:tblPr firstRow="1" bandRow="1">
                <a:tableStyleId>{5C22544A-7EE6-4342-B048-85BDC9FD1C3A}</a:tableStyleId>
              </a:tblPr>
              <a:tblGrid>
                <a:gridCol w="2103120"/>
                <a:gridCol w="960120"/>
                <a:gridCol w="960120"/>
                <a:gridCol w="1005840"/>
                <a:gridCol w="1005840"/>
              </a:tblGrid>
              <a:tr h="365760">
                <a:tc>
                  <a:txBody>
                    <a:bodyPr wrap="square"/>
                    <a:lstStyle/>
                    <a:p>
                      <a:r>
                        <a:rPr sz="1200" b="1" i="0">
                          <a:latin typeface="Times New Roman"/>
                          <a:cs typeface="Times New Roman"/>
                        </a:rPr>
                        <a:t>Rule type</a:t>
                      </a:r>
                    </a:p>
                  </a:txBody>
                  <a:tcPr marL="45720" marR="45720" marT="22860" marB="22860"/>
                </a:tc>
                <a:tc>
                  <a:txBody>
                    <a:bodyPr wrap="square"/>
                    <a:lstStyle/>
                    <a:p>
                      <a:pPr algn="ctr"/>
                      <a:r>
                        <a:rPr sz="1200" b="1" i="0">
                          <a:latin typeface="Times New Roman"/>
                          <a:cs typeface="Times New Roman"/>
                        </a:rPr>
                        <a:t>A passive</a:t>
                      </a:r>
                    </a:p>
                  </a:txBody>
                  <a:tcPr marL="45720" marR="45720" marT="22860" marB="22860"/>
                </a:tc>
                <a:tc>
                  <a:txBody>
                    <a:bodyPr wrap="square"/>
                    <a:lstStyle/>
                    <a:p>
                      <a:pPr algn="ctr"/>
                      <a:r>
                        <a:rPr sz="1200" b="1" i="0">
                          <a:latin typeface="Times New Roman"/>
                          <a:cs typeface="Times New Roman"/>
                        </a:rPr>
                        <a:t>A active</a:t>
                      </a:r>
                    </a:p>
                  </a:txBody>
                  <a:tcPr marL="45720" marR="45720" marT="22860" marB="22860"/>
                </a:tc>
                <a:tc>
                  <a:txBody>
                    <a:bodyPr wrap="square"/>
                    <a:lstStyle/>
                    <a:p>
                      <a:pPr algn="ctr"/>
                      <a:r>
                        <a:rPr sz="1200" b="1" i="0">
                          <a:latin typeface="Times New Roman"/>
                          <a:cs typeface="Times New Roman"/>
                        </a:rPr>
                        <a:t>B passive</a:t>
                      </a:r>
                    </a:p>
                  </a:txBody>
                  <a:tcPr marL="45720" marR="45720" marT="22860" marB="22860"/>
                </a:tc>
                <a:tc>
                  <a:txBody>
                    <a:bodyPr wrap="square"/>
                    <a:lstStyle/>
                    <a:p>
                      <a:pPr algn="ctr"/>
                      <a:r>
                        <a:rPr sz="1200" b="1" i="0">
                          <a:latin typeface="Times New Roman"/>
                          <a:cs typeface="Times New Roman"/>
                        </a:rPr>
                        <a:t>B active</a:t>
                      </a:r>
                    </a:p>
                  </a:txBody>
                  <a:tcPr marL="45720" marR="45720" marT="22860" marB="22860"/>
                </a:tc>
              </a:tr>
              <a:tr h="329184">
                <a:tc>
                  <a:txBody>
                    <a:bodyPr wrap="square"/>
                    <a:lstStyle/>
                    <a:p>
                      <a:r>
                        <a:rPr sz="1200" b="1" i="0">
                          <a:latin typeface="Times New Roman"/>
                          <a:cs typeface="Times New Roman"/>
                        </a:rPr>
                        <a:t>Effects (confident)</a:t>
                      </a:r>
                    </a:p>
                  </a:txBody>
                  <a:tcPr marL="45720" marR="45720" marT="22860" marB="22860"/>
                </a:tc>
                <a:tc>
                  <a:txBody>
                    <a:bodyPr wrap="square"/>
                    <a:lstStyle/>
                    <a:p>
                      <a:pPr algn="ctr"/>
                      <a:r>
                        <a:rPr sz="1200" b="0" i="0">
                          <a:latin typeface="Times New Roman"/>
                          <a:cs typeface="Times New Roman"/>
                        </a:rPr>
                        <a:t>.95 / .52</a:t>
                      </a:r>
                    </a:p>
                  </a:txBody>
                  <a:tcPr marL="45720" marR="45720" marT="22860" marB="22860"/>
                </a:tc>
                <a:tc>
                  <a:txBody>
                    <a:bodyPr wrap="square"/>
                    <a:lstStyle/>
                    <a:p>
                      <a:pPr algn="ctr"/>
                      <a:r>
                        <a:rPr sz="1200" b="0" i="0">
                          <a:latin typeface="Times New Roman"/>
                          <a:cs typeface="Times New Roman"/>
                        </a:rPr>
                        <a:t>.97 / .69</a:t>
                      </a:r>
                    </a:p>
                  </a:txBody>
                  <a:tcPr marL="45720" marR="45720" marT="22860" marB="22860"/>
                </a:tc>
                <a:tc>
                  <a:txBody>
                    <a:bodyPr wrap="square"/>
                    <a:lstStyle/>
                    <a:p>
                      <a:pPr algn="ctr"/>
                      <a:r>
                        <a:rPr sz="1200" b="0" i="0">
                          <a:latin typeface="Times New Roman"/>
                          <a:cs typeface="Times New Roman"/>
                        </a:rPr>
                        <a:t>1.00 / .31</a:t>
                      </a:r>
                    </a:p>
                  </a:txBody>
                  <a:tcPr marL="45720" marR="45720" marT="22860" marB="22860"/>
                </a:tc>
                <a:tc>
                  <a:txBody>
                    <a:bodyPr wrap="square"/>
                    <a:lstStyle/>
                    <a:p>
                      <a:pPr algn="ctr"/>
                      <a:r>
                        <a:rPr sz="1200" b="0" i="0">
                          <a:latin typeface="Times New Roman"/>
                          <a:cs typeface="Times New Roman"/>
                        </a:rPr>
                        <a:t>1.00 / .76</a:t>
                      </a:r>
                    </a:p>
                  </a:txBody>
                  <a:tcPr marL="45720" marR="45720" marT="22860" marB="22860"/>
                </a:tc>
              </a:tr>
              <a:tr h="329184">
                <a:tc>
                  <a:txBody>
                    <a:bodyPr wrap="square"/>
                    <a:lstStyle/>
                    <a:p>
                      <a:r>
                        <a:rPr sz="1200" b="1" i="0">
                          <a:latin typeface="Times New Roman"/>
                          <a:cs typeface="Times New Roman"/>
                        </a:rPr>
                        <a:t>Preconditions (candidate)</a:t>
                      </a:r>
                    </a:p>
                  </a:txBody>
                  <a:tcPr marL="45720" marR="45720" marT="22860" marB="22860"/>
                </a:tc>
                <a:tc>
                  <a:txBody>
                    <a:bodyPr wrap="square"/>
                    <a:lstStyle/>
                    <a:p>
                      <a:pPr algn="ctr"/>
                      <a:r>
                        <a:rPr sz="1200" b="0" i="0">
                          <a:latin typeface="Times New Roman"/>
                          <a:cs typeface="Times New Roman"/>
                        </a:rPr>
                        <a:t>.32 / .59</a:t>
                      </a:r>
                    </a:p>
                  </a:txBody>
                  <a:tcPr marL="45720" marR="45720" marT="22860" marB="22860"/>
                </a:tc>
                <a:tc>
                  <a:txBody>
                    <a:bodyPr wrap="square"/>
                    <a:lstStyle/>
                    <a:p>
                      <a:pPr algn="ctr"/>
                      <a:r>
                        <a:rPr sz="1200" b="0" i="0">
                          <a:latin typeface="Times New Roman"/>
                          <a:cs typeface="Times New Roman"/>
                        </a:rPr>
                        <a:t>.26 / .86</a:t>
                      </a:r>
                    </a:p>
                  </a:txBody>
                  <a:tcPr marL="45720" marR="45720" marT="22860" marB="22860"/>
                </a:tc>
                <a:tc>
                  <a:txBody>
                    <a:bodyPr wrap="square"/>
                    <a:lstStyle/>
                    <a:p>
                      <a:pPr algn="ctr"/>
                      <a:r>
                        <a:rPr sz="1200" b="0" i="0">
                          <a:latin typeface="Times New Roman"/>
                          <a:cs typeface="Times New Roman"/>
                        </a:rPr>
                        <a:t>.23 / .40</a:t>
                      </a:r>
                    </a:p>
                  </a:txBody>
                  <a:tcPr marL="45720" marR="45720" marT="22860" marB="22860"/>
                </a:tc>
                <a:tc>
                  <a:txBody>
                    <a:bodyPr wrap="square"/>
                    <a:lstStyle/>
                    <a:p>
                      <a:pPr algn="ctr"/>
                      <a:r>
                        <a:rPr sz="1200" b="0" i="0">
                          <a:latin typeface="Times New Roman"/>
                          <a:cs typeface="Times New Roman"/>
                        </a:rPr>
                        <a:t>.25 / .90</a:t>
                      </a:r>
                    </a:p>
                  </a:txBody>
                  <a:tcPr marL="45720" marR="45720" marT="22860" marB="22860"/>
                </a:tc>
              </a:tr>
              <a:tr h="329184">
                <a:tc>
                  <a:txBody>
                    <a:bodyPr wrap="square"/>
                    <a:lstStyle/>
                    <a:p>
                      <a:r>
                        <a:rPr sz="1200" b="1" i="0">
                          <a:latin typeface="Times New Roman"/>
                          <a:cs typeface="Times New Roman"/>
                        </a:rPr>
                        <a:t>Preconditions (confirmed)</a:t>
                      </a:r>
                    </a:p>
                  </a:txBody>
                  <a:tcPr marL="45720" marR="45720" marT="22860" marB="22860"/>
                </a:tc>
                <a:tc>
                  <a:txBody>
                    <a:bodyPr wrap="square"/>
                    <a:lstStyle/>
                    <a:p>
                      <a:pPr algn="ctr"/>
                      <a:r>
                        <a:rPr sz="1200" b="0" i="0">
                          <a:latin typeface="Times New Roman"/>
                          <a:cs typeface="Times New Roman"/>
                        </a:rPr>
                        <a:t>-</a:t>
                      </a:r>
                    </a:p>
                  </a:txBody>
                  <a:tcPr marL="45720" marR="45720" marT="22860" marB="22860"/>
                </a:tc>
                <a:tc>
                  <a:txBody>
                    <a:bodyPr wrap="square"/>
                    <a:lstStyle/>
                    <a:p>
                      <a:pPr algn="ctr"/>
                      <a:r>
                        <a:rPr sz="1200" b="0" i="0">
                          <a:latin typeface="Times New Roman"/>
                          <a:cs typeface="Times New Roman"/>
                        </a:rPr>
                        <a:t>.50 / .30</a:t>
                      </a:r>
                    </a:p>
                  </a:txBody>
                  <a:tcPr marL="45720" marR="45720" marT="22860" marB="22860"/>
                </a:tc>
                <a:tc>
                  <a:txBody>
                    <a:bodyPr wrap="square"/>
                    <a:lstStyle/>
                    <a:p>
                      <a:pPr algn="ctr"/>
                      <a:r>
                        <a:rPr sz="1200" b="0" i="0">
                          <a:latin typeface="Times New Roman"/>
                          <a:cs typeface="Times New Roman"/>
                        </a:rPr>
                        <a:t>-</a:t>
                      </a:r>
                    </a:p>
                  </a:txBody>
                  <a:tcPr marL="45720" marR="45720" marT="22860" marB="22860"/>
                </a:tc>
                <a:tc>
                  <a:txBody>
                    <a:bodyPr wrap="square"/>
                    <a:lstStyle/>
                    <a:p>
                      <a:pPr algn="ctr"/>
                      <a:r>
                        <a:rPr sz="1200" b="1" i="0">
                          <a:latin typeface="Times New Roman"/>
                          <a:cs typeface="Times New Roman"/>
                        </a:rPr>
                        <a:t>.66 / .80</a:t>
                      </a:r>
                    </a:p>
                  </a:txBody>
                  <a:tcPr marL="45720" marR="45720" marT="22860" marB="22860"/>
                </a:tc>
              </a:tr>
              <a:tr h="329184">
                <a:tc>
                  <a:txBody>
                    <a:bodyPr wrap="square"/>
                    <a:lstStyle/>
                    <a:p>
                      <a:r>
                        <a:rPr sz="1200" b="1" i="0">
                          <a:latin typeface="Times New Roman"/>
                          <a:cs typeface="Times New Roman"/>
                        </a:rPr>
                        <a:t>Context conditions</a:t>
                      </a:r>
                    </a:p>
                  </a:txBody>
                  <a:tcPr marL="45720" marR="45720" marT="22860" marB="22860"/>
                </a:tc>
                <a:tc>
                  <a:txBody>
                    <a:bodyPr wrap="square"/>
                    <a:lstStyle/>
                    <a:p>
                      <a:pPr algn="ctr"/>
                      <a:r>
                        <a:rPr sz="1200" b="0" i="0">
                          <a:latin typeface="Times New Roman"/>
                          <a:cs typeface="Times New Roman"/>
                        </a:rPr>
                        <a:t>.00 / .00</a:t>
                      </a:r>
                    </a:p>
                  </a:txBody>
                  <a:tcPr marL="45720" marR="45720" marT="22860" marB="22860"/>
                </a:tc>
                <a:tc>
                  <a:txBody>
                    <a:bodyPr wrap="square"/>
                    <a:lstStyle/>
                    <a:p>
                      <a:pPr algn="ctr"/>
                      <a:r>
                        <a:rPr sz="1200" b="0" i="0">
                          <a:latin typeface="Times New Roman"/>
                          <a:cs typeface="Times New Roman"/>
                        </a:rPr>
                        <a:t>.00 / .00</a:t>
                      </a:r>
                    </a:p>
                  </a:txBody>
                  <a:tcPr marL="45720" marR="45720" marT="22860" marB="22860"/>
                </a:tc>
                <a:tc>
                  <a:txBody>
                    <a:bodyPr wrap="square"/>
                    <a:lstStyle/>
                    <a:p>
                      <a:pPr algn="ctr"/>
                      <a:r>
                        <a:rPr sz="1200" b="0" i="0">
                          <a:latin typeface="Times New Roman"/>
                          <a:cs typeface="Times New Roman"/>
                        </a:rPr>
                        <a:t>.13 / .17</a:t>
                      </a:r>
                    </a:p>
                  </a:txBody>
                  <a:tcPr marL="45720" marR="45720" marT="22860" marB="22860"/>
                </a:tc>
                <a:tc>
                  <a:txBody>
                    <a:bodyPr wrap="square"/>
                    <a:lstStyle/>
                    <a:p>
                      <a:pPr algn="ctr"/>
                      <a:r>
                        <a:rPr sz="1200" b="0" i="0">
                          <a:latin typeface="Times New Roman"/>
                          <a:cs typeface="Times New Roman"/>
                        </a:rPr>
                        <a:t>.12 / .20</a:t>
                      </a:r>
                    </a:p>
                  </a:txBody>
                  <a:tcPr marL="45720" marR="45720" marT="22860" marB="22860"/>
                </a:tc>
              </a:tr>
              <a:tr h="329184">
                <a:tc>
                  <a:txBody>
                    <a:bodyPr wrap="square"/>
                    <a:lstStyle/>
                    <a:p>
                      <a:r>
                        <a:rPr sz="1200" b="1" i="0">
                          <a:latin typeface="Times New Roman"/>
                          <a:cs typeface="Times New Roman"/>
                        </a:rPr>
                        <a:t>Copy baseline (P)</a:t>
                      </a:r>
                    </a:p>
                  </a:txBody>
                  <a:tcPr marL="45720" marR="45720" marT="22860" marB="22860"/>
                </a:tc>
                <a:tc>
                  <a:txBody>
                    <a:bodyPr wrap="square"/>
                    <a:lstStyle/>
                    <a:p>
                      <a:pPr algn="ctr"/>
                      <a:r>
                        <a:rPr sz="1200" b="0" i="0">
                          <a:latin typeface="Times New Roman"/>
                          <a:cs typeface="Times New Roman"/>
                        </a:rPr>
                        <a:t>.05</a:t>
                      </a:r>
                    </a:p>
                  </a:txBody>
                  <a:tcPr marL="45720" marR="45720" marT="22860" marB="22860"/>
                </a:tc>
                <a:tc>
                  <a:txBody>
                    <a:bodyPr wrap="square"/>
                    <a:lstStyle/>
                    <a:p>
                      <a:pPr algn="ctr"/>
                      <a:r>
                        <a:rPr sz="1200" b="0" i="0">
                          <a:latin typeface="Times New Roman"/>
                          <a:cs typeface="Times New Roman"/>
                        </a:rPr>
                        <a:t>.05</a:t>
                      </a:r>
                    </a:p>
                  </a:txBody>
                  <a:tcPr marL="45720" marR="45720" marT="22860" marB="22860"/>
                </a:tc>
                <a:tc>
                  <a:txBody>
                    <a:bodyPr wrap="square"/>
                    <a:lstStyle/>
                    <a:p>
                      <a:pPr algn="ctr"/>
                      <a:r>
                        <a:rPr sz="1200" b="0" i="0">
                          <a:latin typeface="Times New Roman"/>
                          <a:cs typeface="Times New Roman"/>
                        </a:rPr>
                        <a:t>.06</a:t>
                      </a:r>
                    </a:p>
                  </a:txBody>
                  <a:tcPr marL="45720" marR="45720" marT="22860" marB="22860"/>
                </a:tc>
                <a:tc>
                  <a:txBody>
                    <a:bodyPr wrap="square"/>
                    <a:lstStyle/>
                    <a:p>
                      <a:pPr algn="ctr"/>
                      <a:r>
                        <a:rPr sz="1200" b="0" i="0">
                          <a:latin typeface="Times New Roman"/>
                          <a:cs typeface="Times New Roman"/>
                        </a:rPr>
                        <a:t>.06</a:t>
                      </a:r>
                    </a:p>
                  </a:txBody>
                  <a:tcPr marL="45720" marR="45720" marT="22860" marB="22860"/>
                </a:tc>
              </a:tr>
            </a:tbl>
          </a:graphicData>
        </a:graphic>
      </p:graphicFrame>
      <p:sp>
        <p:nvSpPr>
          <p:cNvPr id="9" name="TextBox 8"/>
          <p:cNvSpPr txBox="1"/>
          <p:nvPr/>
        </p:nvSpPr>
        <p:spPr>
          <a:xfrm>
            <a:off x="6629400" y="1280160"/>
            <a:ext cx="5212080" cy="320040"/>
          </a:xfrm>
          <a:prstGeom prst="rect">
            <a:avLst/>
          </a:prstGeom>
          <a:noFill/>
        </p:spPr>
        <p:txBody>
          <a:bodyPr wrap="square" lIns="45720" rIns="45720" tIns="27432" bIns="27432" anchor="t">
            <a:noAutofit/>
          </a:bodyPr>
          <a:lstStyle/>
          <a:p>
            <a:pPr marL="0" indent="0">
              <a:lnSpc>
                <a:spcPct val="100000"/>
              </a:lnSpc>
              <a:spcBef>
                <a:spcPts val="0"/>
              </a:spcBef>
              <a:spcAft>
                <a:spcPts val="400"/>
              </a:spcAft>
              <a:buNone/>
            </a:pPr>
            <a:r>
              <a:rPr sz="1300" b="1" i="0">
                <a:latin typeface="Times New Roman"/>
                <a:cs typeface="Times New Roman"/>
              </a:rPr>
              <a:t>Ablations on application B, seed 1 (18 tasks)</a:t>
            </a:r>
          </a:p>
        </p:txBody>
      </p:sp>
      <p:graphicFrame>
        <p:nvGraphicFramePr>
          <p:cNvPr id="10" name="Table 9"/>
          <p:cNvGraphicFramePr>
            <a:graphicFrameLocks noGrp="1"/>
          </p:cNvGraphicFramePr>
          <p:nvPr/>
        </p:nvGraphicFramePr>
        <p:xfrm>
          <a:off x="6629400" y="1645920"/>
          <a:ext cx="5120640" cy="2011680"/>
        </p:xfrm>
        <a:graphic>
          <a:graphicData uri="http://schemas.openxmlformats.org/drawingml/2006/table">
            <a:tbl>
              <a:tblPr firstRow="1" bandRow="1">
                <a:tableStyleId>{5C22544A-7EE6-4342-B048-85BDC9FD1C3A}</a:tableStyleId>
              </a:tblPr>
              <a:tblGrid>
                <a:gridCol w="2926080"/>
                <a:gridCol w="1005840"/>
                <a:gridCol w="1188720"/>
              </a:tblGrid>
              <a:tr h="365760">
                <a:tc>
                  <a:txBody>
                    <a:bodyPr wrap="square"/>
                    <a:lstStyle/>
                    <a:p>
                      <a:r>
                        <a:rPr sz="1200" b="1" i="0">
                          <a:latin typeface="Times New Roman"/>
                          <a:cs typeface="Times New Roman"/>
                        </a:rPr>
                        <a:t>Mode</a:t>
                      </a:r>
                    </a:p>
                  </a:txBody>
                  <a:tcPr marL="45720" marR="45720" marT="22860" marB="22860"/>
                </a:tc>
                <a:tc>
                  <a:txBody>
                    <a:bodyPr wrap="square"/>
                    <a:lstStyle/>
                    <a:p>
                      <a:pPr algn="ctr"/>
                      <a:r>
                        <a:rPr sz="1200" b="1" i="0">
                          <a:latin typeface="Times New Roman"/>
                          <a:cs typeface="Times New Roman"/>
                        </a:rPr>
                        <a:t>Solved</a:t>
                      </a:r>
                    </a:p>
                  </a:txBody>
                  <a:tcPr marL="45720" marR="45720" marT="22860" marB="22860"/>
                </a:tc>
                <a:tc>
                  <a:txBody>
                    <a:bodyPr wrap="square"/>
                    <a:lstStyle/>
                    <a:p>
                      <a:pPr algn="ctr"/>
                      <a:r>
                        <a:rPr sz="1200" b="1" i="0">
                          <a:latin typeface="Times New Roman"/>
                          <a:cs typeface="Times New Roman"/>
                        </a:rPr>
                        <a:t>Calls/task</a:t>
                      </a:r>
                    </a:p>
                  </a:txBody>
                  <a:tcPr marL="45720" marR="45720" marT="22860" marB="22860"/>
                </a:tc>
              </a:tr>
              <a:tr h="329184">
                <a:tc>
                  <a:txBody>
                    <a:bodyPr wrap="square"/>
                    <a:lstStyle/>
                    <a:p>
                      <a:r>
                        <a:rPr sz="1200" b="1" i="0">
                          <a:latin typeface="Times New Roman"/>
                          <a:cs typeface="Times New Roman"/>
                        </a:rPr>
                        <a:t>None</a:t>
                      </a:r>
                    </a:p>
                  </a:txBody>
                  <a:tcPr marL="45720" marR="45720" marT="22860" marB="22860"/>
                </a:tc>
                <a:tc>
                  <a:txBody>
                    <a:bodyPr wrap="square"/>
                    <a:lstStyle/>
                    <a:p>
                      <a:pPr algn="ctr"/>
                      <a:r>
                        <a:rPr sz="1200" b="0" i="0">
                          <a:latin typeface="Times New Roman"/>
                          <a:cs typeface="Times New Roman"/>
                        </a:rPr>
                        <a:t>5/18</a:t>
                      </a:r>
                    </a:p>
                  </a:txBody>
                  <a:tcPr marL="45720" marR="45720" marT="22860" marB="22860"/>
                </a:tc>
                <a:tc>
                  <a:txBody>
                    <a:bodyPr wrap="square"/>
                    <a:lstStyle/>
                    <a:p>
                      <a:pPr algn="ctr"/>
                      <a:r>
                        <a:rPr sz="1200" b="0" i="0">
                          <a:latin typeface="Times New Roman"/>
                          <a:cs typeface="Times New Roman"/>
                        </a:rPr>
                        <a:t>14.6</a:t>
                      </a:r>
                    </a:p>
                  </a:txBody>
                  <a:tcPr marL="45720" marR="45720" marT="22860" marB="22860"/>
                </a:tc>
              </a:tr>
              <a:tr h="329184">
                <a:tc>
                  <a:txBody>
                    <a:bodyPr wrap="square"/>
                    <a:lstStyle/>
                    <a:p>
                      <a:r>
                        <a:rPr sz="1200" b="1" i="0">
                          <a:latin typeface="Times New Roman"/>
                          <a:cs typeface="Times New Roman"/>
                        </a:rPr>
                        <a:t>Passive</a:t>
                      </a:r>
                    </a:p>
                  </a:txBody>
                  <a:tcPr marL="45720" marR="45720" marT="22860" marB="22860"/>
                </a:tc>
                <a:tc>
                  <a:txBody>
                    <a:bodyPr wrap="square"/>
                    <a:lstStyle/>
                    <a:p>
                      <a:pPr algn="ctr"/>
                      <a:r>
                        <a:rPr sz="1200" b="0" i="0">
                          <a:latin typeface="Times New Roman"/>
                          <a:cs typeface="Times New Roman"/>
                        </a:rPr>
                        <a:t>10/18</a:t>
                      </a:r>
                    </a:p>
                  </a:txBody>
                  <a:tcPr marL="45720" marR="45720" marT="22860" marB="22860"/>
                </a:tc>
                <a:tc>
                  <a:txBody>
                    <a:bodyPr wrap="square"/>
                    <a:lstStyle/>
                    <a:p>
                      <a:pPr algn="ctr"/>
                      <a:r>
                        <a:rPr sz="1200" b="0" i="0">
                          <a:latin typeface="Times New Roman"/>
                          <a:cs typeface="Times New Roman"/>
                        </a:rPr>
                        <a:t>8.8</a:t>
                      </a:r>
                    </a:p>
                  </a:txBody>
                  <a:tcPr marL="45720" marR="45720" marT="22860" marB="22860"/>
                </a:tc>
              </a:tr>
              <a:tr h="329184">
                <a:tc>
                  <a:txBody>
                    <a:bodyPr wrap="square"/>
                    <a:lstStyle/>
                    <a:p>
                      <a:r>
                        <a:rPr sz="1200" b="1" i="0">
                          <a:latin typeface="Times New Roman"/>
                          <a:cs typeface="Times New Roman"/>
                        </a:rPr>
                        <a:t>Passive, no transition context</a:t>
                      </a:r>
                    </a:p>
                  </a:txBody>
                  <a:tcPr marL="45720" marR="45720" marT="22860" marB="22860"/>
                </a:tc>
                <a:tc>
                  <a:txBody>
                    <a:bodyPr wrap="square"/>
                    <a:lstStyle/>
                    <a:p>
                      <a:pPr algn="ctr"/>
                      <a:r>
                        <a:rPr sz="1200" b="0" i="0">
                          <a:latin typeface="Times New Roman"/>
                          <a:cs typeface="Times New Roman"/>
                        </a:rPr>
                        <a:t>9/18</a:t>
                      </a:r>
                    </a:p>
                  </a:txBody>
                  <a:tcPr marL="45720" marR="45720" marT="22860" marB="22860"/>
                </a:tc>
                <a:tc>
                  <a:txBody>
                    <a:bodyPr wrap="square"/>
                    <a:lstStyle/>
                    <a:p>
                      <a:pPr algn="ctr"/>
                      <a:r>
                        <a:rPr sz="1200" b="0" i="0">
                          <a:latin typeface="Times New Roman"/>
                          <a:cs typeface="Times New Roman"/>
                        </a:rPr>
                        <a:t>9.9</a:t>
                      </a:r>
                    </a:p>
                  </a:txBody>
                  <a:tcPr marL="45720" marR="45720" marT="22860" marB="22860"/>
                </a:tc>
              </a:tr>
              <a:tr h="329184">
                <a:tc>
                  <a:txBody>
                    <a:bodyPr wrap="square"/>
                    <a:lstStyle/>
                    <a:p>
                      <a:r>
                        <a:rPr sz="1200" b="1" i="0">
                          <a:latin typeface="Times New Roman"/>
                          <a:cs typeface="Times New Roman"/>
                        </a:rPr>
                        <a:t>Active</a:t>
                      </a:r>
                    </a:p>
                  </a:txBody>
                  <a:tcPr marL="45720" marR="45720" marT="22860" marB="22860"/>
                </a:tc>
                <a:tc>
                  <a:txBody>
                    <a:bodyPr wrap="square"/>
                    <a:lstStyle/>
                    <a:p>
                      <a:pPr algn="ctr"/>
                      <a:r>
                        <a:rPr sz="1200" b="1" i="0">
                          <a:latin typeface="Times New Roman"/>
                          <a:cs typeface="Times New Roman"/>
                        </a:rPr>
                        <a:t>17/18</a:t>
                      </a:r>
                    </a:p>
                  </a:txBody>
                  <a:tcPr marL="45720" marR="45720" marT="22860" marB="22860"/>
                </a:tc>
                <a:tc>
                  <a:txBody>
                    <a:bodyPr wrap="square"/>
                    <a:lstStyle/>
                    <a:p>
                      <a:pPr algn="ctr"/>
                      <a:r>
                        <a:rPr sz="1200" b="1" i="0">
                          <a:latin typeface="Times New Roman"/>
                          <a:cs typeface="Times New Roman"/>
                        </a:rPr>
                        <a:t>5.1</a:t>
                      </a:r>
                    </a:p>
                  </a:txBody>
                  <a:tcPr marL="45720" marR="45720" marT="22860" marB="22860"/>
                </a:tc>
              </a:tr>
              <a:tr h="329184">
                <a:tc>
                  <a:txBody>
                    <a:bodyPr wrap="square"/>
                    <a:lstStyle/>
                    <a:p>
                      <a:r>
                        <a:rPr sz="1200" b="1" i="0">
                          <a:latin typeface="Times New Roman"/>
                          <a:cs typeface="Times New Roman"/>
                        </a:rPr>
                        <a:t>Active, replay only</a:t>
                      </a:r>
                    </a:p>
                  </a:txBody>
                  <a:tcPr marL="45720" marR="45720" marT="22860" marB="22860"/>
                </a:tc>
                <a:tc>
                  <a:txBody>
                    <a:bodyPr wrap="square"/>
                    <a:lstStyle/>
                    <a:p>
                      <a:pPr algn="ctr"/>
                      <a:r>
                        <a:rPr sz="1200" b="0" i="0">
                          <a:latin typeface="Times New Roman"/>
                          <a:cs typeface="Times New Roman"/>
                        </a:rPr>
                        <a:t>8/18</a:t>
                      </a:r>
                    </a:p>
                  </a:txBody>
                  <a:tcPr marL="45720" marR="45720" marT="22860" marB="22860"/>
                </a:tc>
                <a:tc>
                  <a:txBody>
                    <a:bodyPr wrap="square"/>
                    <a:lstStyle/>
                    <a:p>
                      <a:pPr algn="ctr"/>
                      <a:r>
                        <a:rPr sz="1200" b="0" i="0">
                          <a:latin typeface="Times New Roman"/>
                          <a:cs typeface="Times New Roman"/>
                        </a:rPr>
                        <a:t>11.7</a:t>
                      </a:r>
                    </a:p>
                  </a:txBody>
                  <a:tcPr marL="45720" marR="45720" marT="22860" marB="22860"/>
                </a:tc>
              </a:tr>
            </a:tbl>
          </a:graphicData>
        </a:graphic>
      </p:graphicFrame>
      <p:sp>
        <p:nvSpPr>
          <p:cNvPr id="11" name="TextBox 10"/>
          <p:cNvSpPr txBox="1"/>
          <p:nvPr/>
        </p:nvSpPr>
        <p:spPr>
          <a:xfrm>
            <a:off x="411480" y="3794760"/>
            <a:ext cx="11430000" cy="2423160"/>
          </a:xfrm>
          <a:prstGeom prst="rect">
            <a:avLst/>
          </a:prstGeom>
          <a:noFill/>
        </p:spPr>
        <p:txBody>
          <a:bodyPr wrap="square" lIns="45720" rIns="45720" tIns="27432" bIns="27432" anchor="t">
            <a:noAutofit/>
          </a:bodyPr>
          <a:lstStyle/>
          <a:p>
            <a:pPr marL="228600" indent="-228600">
              <a:lnSpc>
                <a:spcPct val="100000"/>
              </a:lnSpc>
              <a:spcBef>
                <a:spcPts val="0"/>
              </a:spcBef>
              <a:spcAft>
                <a:spcPts val="500"/>
              </a:spcAft>
              <a:buFont typeface="Arial"/>
              <a:buChar char="•"/>
            </a:pPr>
            <a:r>
              <a:rPr sz="1400" b="1" i="0">
                <a:latin typeface="Times New Roman"/>
                <a:cs typeface="Times New Roman"/>
              </a:rPr>
              <a:t>Effects are learned accurately</a:t>
            </a:r>
            <a:r>
              <a:rPr sz="1400" b="0" i="0">
                <a:latin typeface="Times New Roman"/>
                <a:cs typeface="Times New Roman"/>
              </a:rPr>
              <a:t> (precision 0.93-1.00 in every seed). Passive precondition candidates are imprecise because every co-occurring fact becomes one.</a:t>
            </a:r>
          </a:p>
          <a:p>
            <a:pPr marL="228600" indent="-228600">
              <a:lnSpc>
                <a:spcPct val="100000"/>
              </a:lnSpc>
              <a:spcBef>
                <a:spcPts val="0"/>
              </a:spcBef>
              <a:spcAft>
                <a:spcPts val="500"/>
              </a:spcAft>
              <a:buFont typeface="Arial"/>
              <a:buChar char="•"/>
            </a:pPr>
            <a:r>
              <a:rPr sz="1400" b="1" i="0">
                <a:latin typeface="Times New Roman"/>
                <a:cs typeface="Times New Roman"/>
              </a:rPr>
              <a:t>Experiments raise precondition precision on B</a:t>
            </a:r>
            <a:r>
              <a:rPr sz="1400" b="0" i="0">
                <a:latin typeface="Times New Roman"/>
                <a:cs typeface="Times New Roman"/>
              </a:rPr>
              <a:t> (0.66 confirmed vs 0.23 passive), on few rules; on A the gain is small (0.50 vs 0.32). No experiment made an LLM call.</a:t>
            </a:r>
          </a:p>
          <a:p>
            <a:pPr marL="228600" indent="-228600">
              <a:lnSpc>
                <a:spcPct val="100000"/>
              </a:lnSpc>
              <a:spcBef>
                <a:spcPts val="0"/>
              </a:spcBef>
              <a:spcAft>
                <a:spcPts val="500"/>
              </a:spcAft>
              <a:buFont typeface="Arial"/>
              <a:buChar char="•"/>
            </a:pPr>
            <a:r>
              <a:rPr sz="1400" b="1" i="0">
                <a:latin typeface="Times New Roman"/>
                <a:cs typeface="Times New Roman"/>
              </a:rPr>
              <a:t>The gain needs the interventions:</a:t>
            </a:r>
            <a:r>
              <a:rPr sz="1400" b="0" i="0">
                <a:latin typeface="Times New Roman"/>
                <a:cs typeface="Times New Roman"/>
              </a:rPr>
              <a:t> without ablated replays active mode fell from 17/18 to 8/18 (p = 0.004), no better than passive.</a:t>
            </a:r>
          </a:p>
          <a:p>
            <a:pPr marL="228600" indent="-228600">
              <a:lnSpc>
                <a:spcPct val="100000"/>
              </a:lnSpc>
              <a:spcBef>
                <a:spcPts val="0"/>
              </a:spcBef>
              <a:spcAft>
                <a:spcPts val="500"/>
              </a:spcAft>
              <a:buFont typeface="Arial"/>
              <a:buChar char="•"/>
            </a:pPr>
            <a:r>
              <a:rPr sz="1400" b="1" i="0">
                <a:latin typeface="Times New Roman"/>
                <a:cs typeface="Times New Roman"/>
              </a:rPr>
              <a:t>Unavailable tasks:</a:t>
            </a:r>
            <a:r>
              <a:rPr sz="1400" b="0" i="0">
                <a:latin typeface="Times New Roman"/>
                <a:cs typeface="Times New Roman"/>
              </a:rPr>
              <a:t> learning modes declared 9 of 27 (all on B) and never declared an achievable task unavailable.</a:t>
            </a:r>
          </a:p>
          <a:p>
            <a:pPr marL="228600" indent="-228600">
              <a:lnSpc>
                <a:spcPct val="100000"/>
              </a:lnSpc>
              <a:spcBef>
                <a:spcPts val="0"/>
              </a:spcBef>
              <a:spcAft>
                <a:spcPts val="500"/>
              </a:spcAft>
              <a:buFont typeface="Arial"/>
              <a:buChar char="•"/>
            </a:pPr>
            <a:r>
              <a:rPr sz="1400" b="1" i="0">
                <a:latin typeface="Times New Roman"/>
                <a:cs typeface="Times New Roman"/>
              </a:rPr>
              <a:t>Honest caveat:</a:t>
            </a:r>
            <a:r>
              <a:rPr sz="1400" b="0" i="0">
                <a:latin typeface="Times New Roman"/>
                <a:cs typeface="Times New Roman"/>
              </a:rPr>
              <a:t> the gain over passive comes from application B (outside B both solved 27 of 87 runs).</a:t>
            </a:r>
          </a:p>
        </p:txBody>
      </p:sp>
    </p:spTree>
    <p:extLst>
      <p:ext uri="{BB962C8B-B14F-4D97-AF65-F5344CB8AC3E}">
        <p14:creationId xmlns:p14="http://schemas.microsoft.com/office/powerpoint/2010/main" val="3666188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04F33DD-84F0-A7F9-A1DC-A4DEA1A7D846}"/>
              </a:ext>
            </a:extLst>
          </p:cNvPr>
          <p:cNvSpPr>
            <a:spLocks noGrp="1"/>
          </p:cNvSpPr>
          <p:nvPr>
            <p:ph idx="1"/>
          </p:nvPr>
        </p:nvSpPr>
        <p:spPr>
          <a:xfrm>
            <a:off x="548640" y="1371600"/>
            <a:ext cx="11155680" cy="4846320"/>
          </a:xfrm>
        </p:spPr>
        <p:txBody>
          <a:bodyPr wrap="square" anchor="t">
            <a:noAutofit/>
          </a:bodyPr>
          <a:lstStyle/>
          <a:p>
            <a:pPr marL="0" indent="0">
              <a:lnSpc>
                <a:spcPct val="100000"/>
              </a:lnSpc>
              <a:spcBef>
                <a:spcPts val="0"/>
              </a:spcBef>
              <a:spcAft>
                <a:spcPts val="500"/>
              </a:spcAft>
              <a:buNone/>
            </a:pPr>
            <a:r>
              <a:rPr sz="1400" b="1" i="0">
                <a:latin typeface="Times New Roman"/>
                <a:cs typeface="Times New Roman"/>
              </a:rPr>
              <a:t>Conclusion</a:t>
            </a:r>
          </a:p>
          <a:p>
            <a:pPr marL="228600" indent="-228600">
              <a:lnSpc>
                <a:spcPct val="100000"/>
              </a:lnSpc>
              <a:spcBef>
                <a:spcPts val="0"/>
              </a:spcBef>
              <a:spcAft>
                <a:spcPts val="500"/>
              </a:spcAft>
              <a:buFont typeface="Arial"/>
              <a:buChar char="•"/>
            </a:pPr>
            <a:r>
              <a:rPr sz="1400" b="0" i="0">
                <a:latin typeface="Times New Roman"/>
                <a:cs typeface="Times New Roman"/>
              </a:rPr>
              <a:t>A screenshot-only agent can learn an explicit, plannable model of an unfamiliar application from its own interaction; learned effects reach a precision of 0.93-1.00.</a:t>
            </a:r>
          </a:p>
          <a:p>
            <a:pPr marL="228600" indent="-228600">
              <a:lnSpc>
                <a:spcPct val="100000"/>
              </a:lnSpc>
              <a:spcBef>
                <a:spcPts val="0"/>
              </a:spcBef>
              <a:spcAft>
                <a:spcPts val="500"/>
              </a:spcAft>
              <a:buFont typeface="Arial"/>
              <a:buChar char="•"/>
            </a:pPr>
            <a:r>
              <a:rPr sz="1400" b="0" i="0">
                <a:latin typeface="Times New Roman"/>
                <a:cs typeface="Times New Roman"/>
              </a:rPr>
              <a:t>Experiments that replay and ablate the agent's runs, with no LLM call, raise precondition precision. With them the agent solved 52% of task runs (38% passive, 27% no memory) with 36% fewer LLM calls.</a:t>
            </a:r>
          </a:p>
          <a:p>
            <a:pPr marL="228600" indent="-228600">
              <a:lnSpc>
                <a:spcPct val="100000"/>
              </a:lnSpc>
              <a:spcBef>
                <a:spcPts val="0"/>
              </a:spcBef>
              <a:spcAft>
                <a:spcPts val="500"/>
              </a:spcAft>
              <a:buFont typeface="Arial"/>
              <a:buChar char="•"/>
            </a:pPr>
            <a:r>
              <a:rPr sz="1400" b="0" i="0">
                <a:latin typeface="Times New Roman"/>
                <a:cs typeface="Times New Roman"/>
              </a:rPr>
              <a:t>It ran whole tasks on learned steps, reused actions in new compositions and unseen layouts (20/24 vs 9/24), and declared some impossible tasks unavailable.</a:t>
            </a:r>
          </a:p>
          <a:p>
            <a:pPr marL="228600" indent="-228600">
              <a:lnSpc>
                <a:spcPct val="100000"/>
              </a:lnSpc>
              <a:spcBef>
                <a:spcPts val="0"/>
              </a:spcBef>
              <a:spcAft>
                <a:spcPts val="500"/>
              </a:spcAft>
              <a:buFont typeface="Arial"/>
              <a:buChar char="•"/>
            </a:pPr>
            <a:r>
              <a:rPr sz="1400" b="0" i="0">
                <a:latin typeface="Times New Roman"/>
                <a:cs typeface="Times New Roman"/>
              </a:rPr>
              <a:t>All six objectives met; 337 automated tests; paper submitted to ISAS 2026.</a:t>
            </a:r>
          </a:p>
          <a:p>
            <a:pPr marL="0" indent="0">
              <a:lnSpc>
                <a:spcPct val="100000"/>
              </a:lnSpc>
              <a:spcBef>
                <a:spcPts val="0"/>
              </a:spcBef>
              <a:spcAft>
                <a:spcPts val="500"/>
              </a:spcAft>
              <a:buNone/>
            </a:pPr>
            <a:r>
              <a:rPr sz="1400" b="1" i="0">
                <a:latin typeface="Times New Roman"/>
                <a:cs typeface="Times New Roman"/>
              </a:rPr>
              <a:t>Limitations</a:t>
            </a:r>
          </a:p>
          <a:p>
            <a:pPr marL="228600" indent="-228600">
              <a:lnSpc>
                <a:spcPct val="100000"/>
              </a:lnSpc>
              <a:spcBef>
                <a:spcPts val="0"/>
              </a:spcBef>
              <a:spcAft>
                <a:spcPts val="500"/>
              </a:spcAft>
              <a:buFont typeface="Arial"/>
              <a:buChar char="•"/>
            </a:pPr>
            <a:r>
              <a:rPr sz="1400" b="0" i="0">
                <a:latin typeface="Times New Roman"/>
                <a:cs typeface="Times New Roman"/>
              </a:rPr>
              <a:t>The benchmark applications were built for this study; the gain over passive learning comes from one of three applications; experiments need resettable start states; the model holds only outcomes seen during exploration.</a:t>
            </a:r>
          </a:p>
          <a:p>
            <a:pPr marL="0" indent="0">
              <a:lnSpc>
                <a:spcPct val="100000"/>
              </a:lnSpc>
              <a:spcBef>
                <a:spcPts val="0"/>
              </a:spcBef>
              <a:spcAft>
                <a:spcPts val="500"/>
              </a:spcAft>
              <a:buNone/>
            </a:pPr>
            <a:r>
              <a:rPr sz="1400" b="1" i="0">
                <a:latin typeface="Times New Roman"/>
                <a:cs typeface="Times New Roman"/>
              </a:rPr>
              <a:t>Future work</a:t>
            </a:r>
          </a:p>
          <a:p>
            <a:pPr marL="228600" indent="-228600">
              <a:lnSpc>
                <a:spcPct val="100000"/>
              </a:lnSpc>
              <a:spcBef>
                <a:spcPts val="0"/>
              </a:spcBef>
              <a:spcAft>
                <a:spcPts val="500"/>
              </a:spcAft>
              <a:buFont typeface="Arial"/>
              <a:buChar char="•"/>
            </a:pPr>
            <a:r>
              <a:rPr sz="1400" b="0" i="0">
                <a:latin typeface="Times New Roman"/>
                <a:cs typeface="Times New Roman"/>
              </a:rPr>
              <a:t>Evaluate on real self-hosted applications against memory baselines such as workflow memory and exploration notes.</a:t>
            </a:r>
          </a:p>
          <a:p>
            <a:pPr marL="228600" indent="-228600">
              <a:lnSpc>
                <a:spcPct val="100000"/>
              </a:lnSpc>
              <a:spcBef>
                <a:spcPts val="0"/>
              </a:spcBef>
              <a:spcAft>
                <a:spcPts val="500"/>
              </a:spcAft>
              <a:buFont typeface="Arial"/>
              <a:buChar char="•"/>
            </a:pPr>
            <a:r>
              <a:rPr sz="1400" b="0" i="0">
                <a:latin typeface="Times New Roman"/>
                <a:cs typeface="Times New Roman"/>
              </a:rPr>
              <a:t>Directed exploration of controls never clicked, the main lever for applications A and C.</a:t>
            </a:r>
          </a:p>
          <a:p>
            <a:pPr marL="228600" indent="-228600">
              <a:lnSpc>
                <a:spcPct val="100000"/>
              </a:lnSpc>
              <a:spcBef>
                <a:spcPts val="0"/>
              </a:spcBef>
              <a:spcAft>
                <a:spcPts val="500"/>
              </a:spcAft>
              <a:buFont typeface="Arial"/>
              <a:buChar char="•"/>
            </a:pPr>
            <a:r>
              <a:rPr sz="1400" b="0" i="0">
                <a:latin typeface="Times New Roman"/>
                <a:cs typeface="Times New Roman"/>
              </a:rPr>
              <a:t>Run the ablations on every application and seed, and learn actions beyond clicks, such as text entry.</a:t>
            </a:r>
          </a:p>
        </p:txBody>
      </p:sp>
      <p:sp>
        <p:nvSpPr>
          <p:cNvPr id="4" name="object 2">
            <a:extLst>
              <a:ext uri="{FF2B5EF4-FFF2-40B4-BE49-F238E27FC236}">
                <a16:creationId xmlns:a16="http://schemas.microsoft.com/office/drawing/2014/main" xmlns=""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 and Future Work</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xmlns="" id="{851BAA61-633E-E24B-7DEE-4B2A2B1FA9A4}"/>
              </a:ext>
            </a:extLst>
          </p:cNvPr>
          <p:cNvSpPr>
            <a:spLocks noGrp="1"/>
          </p:cNvSpPr>
          <p:nvPr>
            <p:ph type="dt" sz="half" idx="10"/>
          </p:nvPr>
        </p:nvSpPr>
        <p:spPr/>
        <p:txBody>
          <a:bodyPr/>
          <a:lstStyle/>
          <a:p>
            <a:r>
              <a:rPr lang="en-IN" smtClean="0">
                <a:latin typeface="Times New Roman" panose="02020603050405020304" pitchFamily="18" charset="0"/>
                <a:cs typeface="Times New Roman" panose="02020603050405020304" pitchFamily="18" charset="0"/>
              </a:rPr>
              <a:t>28-10-2026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xmlns=""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xmlns=""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12</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1EE89F-6F96-DF9C-768A-8B2A7BEAD23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Outcome Achieved</a:t>
            </a:r>
          </a:p>
        </p:txBody>
      </p:sp>
      <p:sp>
        <p:nvSpPr>
          <p:cNvPr id="3" name="Content Placeholder 2">
            <a:extLst>
              <a:ext uri="{FF2B5EF4-FFF2-40B4-BE49-F238E27FC236}">
                <a16:creationId xmlns:a16="http://schemas.microsoft.com/office/drawing/2014/main" xmlns="" id="{B65DBCB3-75D0-D33A-66EA-4DDA4A02213E}"/>
              </a:ext>
            </a:extLst>
          </p:cNvPr>
          <p:cNvSpPr>
            <a:spLocks noGrp="1"/>
          </p:cNvSpPr>
          <p:nvPr>
            <p:ph idx="1"/>
          </p:nvPr>
        </p:nvSpPr>
        <p:spPr>
          <a:xfrm>
            <a:off x="548640" y="1417320"/>
            <a:ext cx="5257800" cy="4754880"/>
          </a:xfrm>
        </p:spPr>
        <p:txBody>
          <a:bodyPr wrap="square" anchor="t">
            <a:noAutofit/>
          </a:bodyPr>
          <a:lstStyle/>
          <a:p>
            <a:pPr marL="228600" indent="-228600">
              <a:lnSpc>
                <a:spcPct val="100000"/>
              </a:lnSpc>
              <a:spcBef>
                <a:spcPts val="0"/>
              </a:spcBef>
              <a:spcAft>
                <a:spcPts val="700"/>
              </a:spcAft>
              <a:buFont typeface="Arial"/>
              <a:buChar char="•"/>
            </a:pPr>
            <a:r>
              <a:rPr sz="1500" b="1" i="0">
                <a:latin typeface="Times New Roman"/>
                <a:cs typeface="Times New Roman"/>
              </a:rPr>
              <a:t>International Conference Proceedings - Submitted</a:t>
            </a:r>
          </a:p>
          <a:p>
            <a:pPr marL="571500" indent="-228600">
              <a:lnSpc>
                <a:spcPct val="100000"/>
              </a:lnSpc>
              <a:spcBef>
                <a:spcPts val="0"/>
              </a:spcBef>
              <a:spcAft>
                <a:spcPts val="700"/>
              </a:spcAft>
              <a:buFont typeface="Arial"/>
              <a:buChar char="–"/>
            </a:pPr>
            <a:r>
              <a:rPr sz="1400" b="0" i="0">
                <a:latin typeface="Times New Roman"/>
                <a:cs typeface="Times New Roman"/>
              </a:rPr>
              <a:t>Venue: ISAS 2026 (full paper, IEEE conference format), through the SETCMS submission system.</a:t>
            </a:r>
          </a:p>
          <a:p>
            <a:pPr marL="571500" indent="-228600">
              <a:lnSpc>
                <a:spcPct val="100000"/>
              </a:lnSpc>
              <a:spcBef>
                <a:spcPts val="0"/>
              </a:spcBef>
              <a:spcAft>
                <a:spcPts val="700"/>
              </a:spcAft>
              <a:buFont typeface="Arial"/>
              <a:buChar char="–"/>
            </a:pPr>
            <a:r>
              <a:rPr sz="1400" b="0" i="0">
                <a:latin typeface="Times New Roman"/>
                <a:cs typeface="Times New Roman"/>
              </a:rPr>
              <a:t>Submission ID: 282, created 25 Oct 2026.</a:t>
            </a:r>
          </a:p>
          <a:p>
            <a:pPr marL="571500" indent="-228600">
              <a:lnSpc>
                <a:spcPct val="100000"/>
              </a:lnSpc>
              <a:spcBef>
                <a:spcPts val="0"/>
              </a:spcBef>
              <a:spcAft>
                <a:spcPts val="700"/>
              </a:spcAft>
              <a:buFont typeface="Arial"/>
              <a:buChar char="–"/>
            </a:pPr>
            <a:r>
              <a:rPr sz="1400" b="0" i="0">
                <a:latin typeface="Times New Roman"/>
                <a:cs typeface="Times New Roman"/>
              </a:rPr>
              <a:t>Title: "Learning What a GUI Does from Its Pixels: Experiment-Driven Action Models for Screenshot-Based Agents"</a:t>
            </a:r>
          </a:p>
          <a:p>
            <a:pPr marL="571500" indent="-228600">
              <a:lnSpc>
                <a:spcPct val="100000"/>
              </a:lnSpc>
              <a:spcBef>
                <a:spcPts val="0"/>
              </a:spcBef>
              <a:spcAft>
                <a:spcPts val="700"/>
              </a:spcAft>
              <a:buFont typeface="Arial"/>
              <a:buChar char="–"/>
            </a:pPr>
            <a:r>
              <a:rPr sz="1400" b="0" i="0">
                <a:latin typeface="Times New Roman"/>
                <a:cs typeface="Times New Roman"/>
              </a:rPr>
              <a:t>Authors: Abhinav Pant, Mantri Vishnu Vikranth, Harish Kumar V S, Sendhil Kumar K S</a:t>
            </a:r>
          </a:p>
          <a:p>
            <a:pPr marL="228600" indent="-228600">
              <a:lnSpc>
                <a:spcPct val="100000"/>
              </a:lnSpc>
              <a:spcBef>
                <a:spcPts val="0"/>
              </a:spcBef>
              <a:spcAft>
                <a:spcPts val="700"/>
              </a:spcAft>
              <a:buFont typeface="Arial"/>
              <a:buChar char="•"/>
            </a:pPr>
            <a:r>
              <a:rPr sz="1500" b="0" i="0">
                <a:latin typeface="Times New Roman"/>
                <a:cs typeface="Times New Roman"/>
              </a:rPr>
              <a:t>Patent - Not applicable</a:t>
            </a:r>
          </a:p>
          <a:p>
            <a:pPr marL="228600" indent="-228600">
              <a:lnSpc>
                <a:spcPct val="100000"/>
              </a:lnSpc>
              <a:spcBef>
                <a:spcPts val="0"/>
              </a:spcBef>
              <a:spcAft>
                <a:spcPts val="700"/>
              </a:spcAft>
              <a:buFont typeface="Arial"/>
              <a:buChar char="•"/>
            </a:pPr>
            <a:r>
              <a:rPr sz="1500" b="0" i="0">
                <a:latin typeface="Times New Roman"/>
                <a:cs typeface="Times New Roman"/>
              </a:rPr>
              <a:t>Journal Publication - Not applicable</a:t>
            </a:r>
          </a:p>
          <a:p>
            <a:pPr marL="228600" indent="-228600">
              <a:lnSpc>
                <a:spcPct val="100000"/>
              </a:lnSpc>
              <a:spcBef>
                <a:spcPts val="0"/>
              </a:spcBef>
              <a:spcAft>
                <a:spcPts val="700"/>
              </a:spcAft>
              <a:buFont typeface="Arial"/>
              <a:buChar char="•"/>
            </a:pPr>
            <a:r>
              <a:rPr sz="1500" b="0" i="0">
                <a:latin typeface="Times New Roman"/>
                <a:cs typeface="Times New Roman"/>
              </a:rPr>
              <a:t>Start-up information - Nil</a:t>
            </a:r>
          </a:p>
          <a:p>
            <a:pPr marL="228600" indent="-228600">
              <a:lnSpc>
                <a:spcPct val="100000"/>
              </a:lnSpc>
              <a:spcBef>
                <a:spcPts val="0"/>
              </a:spcBef>
              <a:spcAft>
                <a:spcPts val="700"/>
              </a:spcAft>
              <a:buFont typeface="Arial"/>
              <a:buChar char="•"/>
            </a:pPr>
            <a:r>
              <a:rPr sz="1500" b="0" i="0">
                <a:latin typeface="Times New Roman"/>
                <a:cs typeface="Times New Roman"/>
              </a:rPr>
              <a:t>Others - The implementation and the Visual Function Lab benchmark will be released on acceptance.</a:t>
            </a:r>
          </a:p>
        </p:txBody>
      </p:sp>
      <p:sp>
        <p:nvSpPr>
          <p:cNvPr id="4" name="Date Placeholder 3">
            <a:extLst>
              <a:ext uri="{FF2B5EF4-FFF2-40B4-BE49-F238E27FC236}">
                <a16:creationId xmlns:a16="http://schemas.microsoft.com/office/drawing/2014/main" xmlns="" id="{7F86E621-0A63-DDD2-60A0-511D9D7C817E}"/>
              </a:ext>
            </a:extLst>
          </p:cNvPr>
          <p:cNvSpPr>
            <a:spLocks noGrp="1"/>
          </p:cNvSpPr>
          <p:nvPr>
            <p:ph type="dt" sz="half" idx="10"/>
          </p:nvPr>
        </p:nvSpPr>
        <p:spPr/>
        <p:txBody>
          <a:bodyPr/>
          <a:lstStyle/>
          <a:p>
            <a:r>
              <a:rPr lang="en-IN" smtClean="0"/>
              <a:t>28-10-2026</a:t>
            </a:r>
            <a:endParaRPr lang="en-IN"/>
          </a:p>
        </p:txBody>
      </p:sp>
      <p:sp>
        <p:nvSpPr>
          <p:cNvPr id="5" name="Footer Placeholder 4">
            <a:extLst>
              <a:ext uri="{FF2B5EF4-FFF2-40B4-BE49-F238E27FC236}">
                <a16:creationId xmlns:a16="http://schemas.microsoft.com/office/drawing/2014/main" xmlns="" id="{74966F66-9685-CC43-3B74-035A03CAF328}"/>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2234F7B-54B7-5C34-9356-A94BE39E2151}"/>
              </a:ext>
            </a:extLst>
          </p:cNvPr>
          <p:cNvSpPr>
            <a:spLocks noGrp="1"/>
          </p:cNvSpPr>
          <p:nvPr>
            <p:ph type="sldNum" sz="quarter" idx="12"/>
          </p:nvPr>
        </p:nvSpPr>
        <p:spPr/>
        <p:txBody>
          <a:bodyPr/>
          <a:lstStyle/>
          <a:p>
            <a:fld id="{65201FD4-9D8D-4491-815B-63C7BF4F0034}" type="slidenum">
              <a:rPr lang="en-IN" smtClean="0"/>
              <a:t>13</a:t>
            </a:fld>
            <a:endParaRPr lang="en-IN"/>
          </a:p>
        </p:txBody>
      </p:sp>
      <p:pic>
        <p:nvPicPr>
          <p:cNvPr id="7" name="ISAS2026 author-confirmation e-mail, Submission ID 282" descr="ISAS2026 author-confirmation e-mail, Submission ID 282"/>
          <p:cNvPicPr>
            <a:picLocks noChangeAspect="1"/>
          </p:cNvPicPr>
          <p:nvPr/>
        </p:nvPicPr>
        <p:blipFill>
          <a:blip r:embed="rId3"/>
          <a:stretch>
            <a:fillRect/>
          </a:stretch>
        </p:blipFill>
        <p:spPr>
          <a:xfrm>
            <a:off x="6080760" y="1463040"/>
            <a:ext cx="5715000" cy="3819065"/>
          </a:xfrm>
          <a:prstGeom prst="rect">
            <a:avLst/>
          </a:prstGeom>
        </p:spPr>
      </p:pic>
      <p:sp>
        <p:nvSpPr>
          <p:cNvPr id="8" name="TextBox 7"/>
          <p:cNvSpPr txBox="1"/>
          <p:nvPr/>
        </p:nvSpPr>
        <p:spPr>
          <a:xfrm>
            <a:off x="6080760" y="5349240"/>
            <a:ext cx="5715000" cy="365760"/>
          </a:xfrm>
          <a:prstGeom prst="rect">
            <a:avLst/>
          </a:prstGeom>
          <a:noFill/>
        </p:spPr>
        <p:txBody>
          <a:bodyPr wrap="square" lIns="45720" rIns="45720" tIns="27432" bIns="27432" anchor="t">
            <a:noAutofit/>
          </a:bodyPr>
          <a:lstStyle/>
          <a:p>
            <a:pPr marL="0" indent="0" algn="ctr">
              <a:lnSpc>
                <a:spcPct val="100000"/>
              </a:lnSpc>
              <a:spcBef>
                <a:spcPts val="0"/>
              </a:spcBef>
              <a:spcAft>
                <a:spcPts val="400"/>
              </a:spcAft>
              <a:buNone/>
            </a:pPr>
            <a:r>
              <a:rPr sz="1200" b="0" i="1">
                <a:latin typeface="Times New Roman"/>
                <a:cs typeface="Times New Roman"/>
              </a:rPr>
              <a:t>Proof: ISAS2026 author-confirmation e-mail for Submission ID 282 (25 Oct 2026)</a:t>
            </a:r>
          </a:p>
        </p:txBody>
      </p:sp>
    </p:spTree>
    <p:extLst>
      <p:ext uri="{BB962C8B-B14F-4D97-AF65-F5344CB8AC3E}">
        <p14:creationId xmlns:p14="http://schemas.microsoft.com/office/powerpoint/2010/main" val="4071570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xmlns="" id="{CC4F09CD-956A-B8B3-1183-9C28C80DDB9A}"/>
              </a:ext>
            </a:extLst>
          </p:cNvPr>
          <p:cNvSpPr>
            <a:spLocks noGrp="1" noChangeArrowheads="1"/>
          </p:cNvSpPr>
          <p:nvPr>
            <p:ph idx="1"/>
          </p:nvPr>
        </p:nvSpPr>
        <p:spPr bwMode="auto">
          <a:xfrm>
            <a:off x="457200" y="1325880"/>
            <a:ext cx="11247120" cy="493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marL="0" indent="0">
              <a:lnSpc>
                <a:spcPct val="100000"/>
              </a:lnSpc>
              <a:spcBef>
                <a:spcPts val="0"/>
              </a:spcBef>
              <a:spcAft>
                <a:spcPts val="300"/>
              </a:spcAft>
              <a:buNone/>
            </a:pPr>
            <a:r>
              <a:rPr sz="1300" b="0" i="0">
                <a:latin typeface="Times New Roman"/>
                <a:cs typeface="Times New Roman"/>
              </a:rPr>
              <a:t>[1] B. Zheng, B. Gou, J. Kil, H. Sun, and Y. Su, "GPT-4V(ision) is a generalist web agent, if grounded," in Proc. 41st ICML, PMLR, vol. 235, 2024, pp. 61349-61385.</a:t>
            </a:r>
          </a:p>
          <a:p>
            <a:pPr marL="0" indent="0">
              <a:lnSpc>
                <a:spcPct val="100000"/>
              </a:lnSpc>
              <a:spcBef>
                <a:spcPts val="0"/>
              </a:spcBef>
              <a:spcAft>
                <a:spcPts val="300"/>
              </a:spcAft>
              <a:buNone/>
            </a:pPr>
            <a:r>
              <a:rPr sz="1300" b="0" i="0">
                <a:latin typeface="Times New Roman"/>
                <a:cs typeface="Times New Roman"/>
              </a:rPr>
              <a:t>[2] W. Hong et al., "CogAgent: A visual language model for GUI agents," in Proc. IEEE/CVF CVPR, 2024, pp. 14281-14290.</a:t>
            </a:r>
          </a:p>
          <a:p>
            <a:pPr marL="0" indent="0">
              <a:lnSpc>
                <a:spcPct val="100000"/>
              </a:lnSpc>
              <a:spcBef>
                <a:spcPts val="0"/>
              </a:spcBef>
              <a:spcAft>
                <a:spcPts val="300"/>
              </a:spcAft>
              <a:buNone/>
            </a:pPr>
            <a:r>
              <a:rPr sz="1300" b="0" i="0">
                <a:latin typeface="Times New Roman"/>
                <a:cs typeface="Times New Roman"/>
              </a:rPr>
              <a:t>[3] K. Cheng et al., "SeeClick: Harnessing GUI grounding for advanced visual GUI agents," in Proc. 62nd ACL, 2024, pp. 9313-9332.</a:t>
            </a:r>
          </a:p>
          <a:p>
            <a:pPr marL="0" indent="0">
              <a:lnSpc>
                <a:spcPct val="100000"/>
              </a:lnSpc>
              <a:spcBef>
                <a:spcPts val="0"/>
              </a:spcBef>
              <a:spcAft>
                <a:spcPts val="300"/>
              </a:spcAft>
              <a:buNone/>
            </a:pPr>
            <a:r>
              <a:rPr sz="1300" b="0" i="0">
                <a:latin typeface="Times New Roman"/>
                <a:cs typeface="Times New Roman"/>
              </a:rPr>
              <a:t>[4] Y. Lu, J. Yang, Y. Shen, and A. Awadallah, "OmniParser for pure vision based GUI agent," arXiv:2408.00203, 2024.</a:t>
            </a:r>
          </a:p>
          <a:p>
            <a:pPr marL="0" indent="0">
              <a:lnSpc>
                <a:spcPct val="100000"/>
              </a:lnSpc>
              <a:spcBef>
                <a:spcPts val="0"/>
              </a:spcBef>
              <a:spcAft>
                <a:spcPts val="300"/>
              </a:spcAft>
              <a:buNone/>
            </a:pPr>
            <a:r>
              <a:rPr sz="1300" b="0" i="0">
                <a:latin typeface="Times New Roman"/>
                <a:cs typeface="Times New Roman"/>
              </a:rPr>
              <a:t>[5] S. Zhou et al., "WebArena: A realistic web environment for building autonomous agents," in Proc. ICLR, 2024.</a:t>
            </a:r>
          </a:p>
          <a:p>
            <a:pPr marL="0" indent="0">
              <a:lnSpc>
                <a:spcPct val="100000"/>
              </a:lnSpc>
              <a:spcBef>
                <a:spcPts val="0"/>
              </a:spcBef>
              <a:spcAft>
                <a:spcPts val="300"/>
              </a:spcAft>
              <a:buNone/>
            </a:pPr>
            <a:r>
              <a:rPr sz="1300" b="0" i="0">
                <a:latin typeface="Times New Roman"/>
                <a:cs typeface="Times New Roman"/>
              </a:rPr>
              <a:t>[6] J. Y. Koh et al., "VisualWebArena: Evaluating multimodal agents on realistic visual web tasks," in Proc. 62nd ACL, 2024.</a:t>
            </a:r>
          </a:p>
          <a:p>
            <a:pPr marL="0" indent="0">
              <a:lnSpc>
                <a:spcPct val="100000"/>
              </a:lnSpc>
              <a:spcBef>
                <a:spcPts val="0"/>
              </a:spcBef>
              <a:spcAft>
                <a:spcPts val="300"/>
              </a:spcAft>
              <a:buNone/>
            </a:pPr>
            <a:r>
              <a:rPr sz="1300" b="0" i="0">
                <a:latin typeface="Times New Roman"/>
                <a:cs typeface="Times New Roman"/>
              </a:rPr>
              <a:t>[7] X. Deng et al., "Mind2Web: Towards a generalist agent for the web," in NeurIPS Datasets and Benchmarks Track, 2023.</a:t>
            </a:r>
          </a:p>
          <a:p>
            <a:pPr marL="0" indent="0">
              <a:lnSpc>
                <a:spcPct val="100000"/>
              </a:lnSpc>
              <a:spcBef>
                <a:spcPts val="0"/>
              </a:spcBef>
              <a:spcAft>
                <a:spcPts val="300"/>
              </a:spcAft>
              <a:buNone/>
            </a:pPr>
            <a:r>
              <a:rPr sz="1300" b="0" i="0">
                <a:latin typeface="Times New Roman"/>
                <a:cs typeface="Times New Roman"/>
              </a:rPr>
              <a:t>[8] T. Xie et al., "OSWorld: Benchmarking multimodal agents for open-ended tasks in real computer environments," in NeurIPS, 2024.</a:t>
            </a:r>
          </a:p>
          <a:p>
            <a:pPr marL="0" indent="0">
              <a:lnSpc>
                <a:spcPct val="100000"/>
              </a:lnSpc>
              <a:spcBef>
                <a:spcPts val="0"/>
              </a:spcBef>
              <a:spcAft>
                <a:spcPts val="300"/>
              </a:spcAft>
              <a:buNone/>
            </a:pPr>
            <a:r>
              <a:rPr sz="1300" b="0" i="0">
                <a:latin typeface="Times New Roman"/>
                <a:cs typeface="Times New Roman"/>
              </a:rPr>
              <a:t>[9] S. Yao et al., "ReAct: Synergizing reasoning and acting in language models," in Proc. ICLR, 2023.</a:t>
            </a:r>
          </a:p>
          <a:p>
            <a:pPr marL="0" indent="0">
              <a:lnSpc>
                <a:spcPct val="100000"/>
              </a:lnSpc>
              <a:spcBef>
                <a:spcPts val="0"/>
              </a:spcBef>
              <a:spcAft>
                <a:spcPts val="300"/>
              </a:spcAft>
              <a:buNone/>
            </a:pPr>
            <a:r>
              <a:rPr sz="1300" b="0" i="0">
                <a:latin typeface="Times New Roman"/>
                <a:cs typeface="Times New Roman"/>
              </a:rPr>
              <a:t>[10] J. Yang et al., "Set-of-Mark prompting unleashes extraordinary visual grounding in GPT-4V," arXiv:2310.11441, 2023.</a:t>
            </a:r>
          </a:p>
          <a:p>
            <a:pPr marL="0" indent="0">
              <a:lnSpc>
                <a:spcPct val="100000"/>
              </a:lnSpc>
              <a:spcBef>
                <a:spcPts val="0"/>
              </a:spcBef>
              <a:spcAft>
                <a:spcPts val="300"/>
              </a:spcAft>
              <a:buNone/>
            </a:pPr>
            <a:r>
              <a:rPr sz="1300" b="0" i="0">
                <a:latin typeface="Times New Roman"/>
                <a:cs typeface="Times New Roman"/>
              </a:rPr>
              <a:t>[11] C. Zhang et al., "UFO: A UI-focused agent for Windows OS interaction," arXiv:2402.07939, 2024.</a:t>
            </a:r>
          </a:p>
          <a:p>
            <a:pPr marL="0" indent="0">
              <a:lnSpc>
                <a:spcPct val="100000"/>
              </a:lnSpc>
              <a:spcBef>
                <a:spcPts val="0"/>
              </a:spcBef>
              <a:spcAft>
                <a:spcPts val="300"/>
              </a:spcAft>
              <a:buNone/>
            </a:pPr>
            <a:r>
              <a:rPr sz="1300" b="0" i="0">
                <a:latin typeface="Times New Roman"/>
                <a:cs typeface="Times New Roman"/>
              </a:rPr>
              <a:t>[12] C. Zhang et al., "AppAgent: Multimodal agents as smartphone users," arXiv:2312.13771, 2023.</a:t>
            </a:r>
          </a:p>
          <a:p>
            <a:pPr marL="0" indent="0">
              <a:lnSpc>
                <a:spcPct val="100000"/>
              </a:lnSpc>
              <a:spcBef>
                <a:spcPts val="0"/>
              </a:spcBef>
              <a:spcAft>
                <a:spcPts val="300"/>
              </a:spcAft>
              <a:buNone/>
            </a:pPr>
            <a:r>
              <a:rPr sz="1300" b="0" i="0">
                <a:latin typeface="Times New Roman"/>
                <a:cs typeface="Times New Roman"/>
              </a:rPr>
              <a:t>[13] H. Wen et al., "AutoDroid: LLM-powered task automation in Android," in Proc. 30th MobiCom, 2024.</a:t>
            </a:r>
          </a:p>
          <a:p>
            <a:pPr marL="0" indent="0">
              <a:lnSpc>
                <a:spcPct val="100000"/>
              </a:lnSpc>
              <a:spcBef>
                <a:spcPts val="0"/>
              </a:spcBef>
              <a:spcAft>
                <a:spcPts val="300"/>
              </a:spcAft>
              <a:buNone/>
            </a:pPr>
            <a:r>
              <a:rPr sz="1300" b="0" i="0">
                <a:latin typeface="Times New Roman"/>
                <a:cs typeface="Times New Roman"/>
              </a:rPr>
              <a:t>[14] S. Lee et al., "MobileGPT: Augmenting LLM with human-like app memory for mobile task automation," arXiv:2312.03003, 2023.</a:t>
            </a:r>
          </a:p>
          <a:p>
            <a:pPr marL="0" indent="0">
              <a:lnSpc>
                <a:spcPct val="100000"/>
              </a:lnSpc>
              <a:spcBef>
                <a:spcPts val="0"/>
              </a:spcBef>
              <a:spcAft>
                <a:spcPts val="300"/>
              </a:spcAft>
              <a:buNone/>
            </a:pPr>
            <a:r>
              <a:rPr sz="1300" b="0" i="0">
                <a:latin typeface="Times New Roman"/>
                <a:cs typeface="Times New Roman"/>
              </a:rPr>
              <a:t>[15] Z. Z. Wang, J. Mao, D. Fried, and G. Neubig, "Agent workflow memory," in Proc. 42nd ICML, PMLR, vol. 267, 2025, pp. 63897-63911.</a:t>
            </a:r>
          </a:p>
          <a:p>
            <a:pPr marL="0" indent="0">
              <a:lnSpc>
                <a:spcPct val="100000"/>
              </a:lnSpc>
              <a:spcBef>
                <a:spcPts val="0"/>
              </a:spcBef>
              <a:spcAft>
                <a:spcPts val="300"/>
              </a:spcAft>
              <a:buNone/>
            </a:pPr>
            <a:r>
              <a:rPr sz="1300" b="0" i="0">
                <a:latin typeface="Times New Roman"/>
                <a:cs typeface="Times New Roman"/>
              </a:rPr>
              <a:t>[16] G. Wang et al., "Voyager: An open-ended embodied agent with large language models," Transactions on Machine Learning Research, 2024.</a:t>
            </a:r>
          </a:p>
          <a:p>
            <a:pPr marL="0" indent="0">
              <a:lnSpc>
                <a:spcPct val="100000"/>
              </a:lnSpc>
              <a:spcBef>
                <a:spcPts val="0"/>
              </a:spcBef>
              <a:spcAft>
                <a:spcPts val="300"/>
              </a:spcAft>
              <a:buNone/>
            </a:pPr>
            <a:r>
              <a:rPr sz="1300" b="0" i="0">
                <a:latin typeface="Times New Roman"/>
                <a:cs typeface="Times New Roman"/>
              </a:rPr>
              <a:t>[17] A. Memon, I. Banerjee, and A. Nagarajan, "GUI ripping: Reverse engineering of graphical user interfaces for testing," in Proc. 10th WCRE, 2003.</a:t>
            </a:r>
          </a:p>
          <a:p>
            <a:pPr marL="0" indent="0">
              <a:lnSpc>
                <a:spcPct val="100000"/>
              </a:lnSpc>
              <a:spcBef>
                <a:spcPts val="0"/>
              </a:spcBef>
              <a:spcAft>
                <a:spcPts val="300"/>
              </a:spcAft>
              <a:buNone/>
            </a:pPr>
            <a:r>
              <a:rPr sz="1300" b="0" i="0">
                <a:latin typeface="Times New Roman"/>
                <a:cs typeface="Times New Roman"/>
              </a:rPr>
              <a:t>[18] T. Su et al., "Guided, stochastic model-based GUI testing of Android apps," in Proc. 11th ESEC/FSE, 2017, pp. 245-256.</a:t>
            </a:r>
          </a:p>
        </p:txBody>
      </p:sp>
      <p:sp>
        <p:nvSpPr>
          <p:cNvPr id="5" name="Date Placeholder 4">
            <a:extLst>
              <a:ext uri="{FF2B5EF4-FFF2-40B4-BE49-F238E27FC236}">
                <a16:creationId xmlns:a16="http://schemas.microsoft.com/office/drawing/2014/main" xmlns="" id="{B732D3DB-7149-E1E5-D5F9-4FC93A788894}"/>
              </a:ext>
            </a:extLst>
          </p:cNvPr>
          <p:cNvSpPr>
            <a:spLocks noGrp="1"/>
          </p:cNvSpPr>
          <p:nvPr>
            <p:ph type="dt" sz="half" idx="10"/>
          </p:nvPr>
        </p:nvSpPr>
        <p:spPr/>
        <p:txBody>
          <a:bodyPr/>
          <a:lstStyle/>
          <a:p>
            <a:r>
              <a:rPr lang="en-IN" smtClean="0"/>
              <a:t>28-10-2026</a:t>
            </a:r>
            <a:endParaRPr lang="en-IN"/>
          </a:p>
        </p:txBody>
      </p:sp>
      <p:sp>
        <p:nvSpPr>
          <p:cNvPr id="6" name="Footer Placeholder 5">
            <a:extLst>
              <a:ext uri="{FF2B5EF4-FFF2-40B4-BE49-F238E27FC236}">
                <a16:creationId xmlns:a16="http://schemas.microsoft.com/office/drawing/2014/main" xmlns=""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E431EAEC-BCE3-2979-69C6-273309B9FFA7}"/>
              </a:ext>
            </a:extLst>
          </p:cNvPr>
          <p:cNvSpPr>
            <a:spLocks noGrp="1"/>
          </p:cNvSpPr>
          <p:nvPr>
            <p:ph type="sldNum" sz="quarter" idx="12"/>
          </p:nvPr>
        </p:nvSpPr>
        <p:spPr/>
        <p:txBody>
          <a:bodyPr/>
          <a:lstStyle/>
          <a:p>
            <a:fld id="{65201FD4-9D8D-4491-815B-63C7BF4F0034}" type="slidenum">
              <a:rPr lang="en-IN" smtClean="0"/>
              <a:t>14</a:t>
            </a:fld>
            <a:endParaRPr lang="en-IN"/>
          </a:p>
        </p:txBody>
      </p:sp>
    </p:spTree>
    <p:extLst>
      <p:ext uri="{BB962C8B-B14F-4D97-AF65-F5344CB8AC3E}">
        <p14:creationId xmlns:p14="http://schemas.microsoft.com/office/powerpoint/2010/main" val="3510526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xmlns=""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 (continued)</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xmlns="" id="{CC4F09CD-956A-B8B3-1183-9C28C80DDB9A}"/>
              </a:ext>
            </a:extLst>
          </p:cNvPr>
          <p:cNvSpPr>
            <a:spLocks noGrp="1" noChangeArrowheads="1"/>
          </p:cNvSpPr>
          <p:nvPr>
            <p:ph idx="1"/>
          </p:nvPr>
        </p:nvSpPr>
        <p:spPr bwMode="auto">
          <a:xfrm>
            <a:off x="457200" y="1325880"/>
            <a:ext cx="11247120" cy="493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Autofit/>
          </a:bodyPr>
          <a:lstStyle/>
          <a:p>
            <a:pPr marL="0" indent="0">
              <a:lnSpc>
                <a:spcPct val="100000"/>
              </a:lnSpc>
              <a:spcBef>
                <a:spcPts val="0"/>
              </a:spcBef>
              <a:spcAft>
                <a:spcPts val="300"/>
              </a:spcAft>
              <a:buNone/>
            </a:pPr>
            <a:r>
              <a:rPr sz="1300" b="0" i="0">
                <a:latin typeface="Times New Roman"/>
                <a:cs typeface="Times New Roman"/>
              </a:rPr>
              <a:t>[19] Y. Gu, B. Zheng et al., "Is your LLM secretly a world model of the Internet? Model-based planning for web agents," Transactions on Machine Learning Research, 2025.</a:t>
            </a:r>
          </a:p>
          <a:p>
            <a:pPr marL="0" indent="0">
              <a:lnSpc>
                <a:spcPct val="100000"/>
              </a:lnSpc>
              <a:spcBef>
                <a:spcPts val="0"/>
              </a:spcBef>
              <a:spcAft>
                <a:spcPts val="300"/>
              </a:spcAft>
              <a:buNone/>
            </a:pPr>
            <a:r>
              <a:rPr sz="1300" b="0" i="0">
                <a:latin typeface="Times New Roman"/>
                <a:cs typeface="Times New Roman"/>
              </a:rPr>
              <a:t>[20] H. Chae et al., "Web agents with world models: Learning and leveraging environment dynamics in web navigation," in Proc. ICLR, 2025.</a:t>
            </a:r>
          </a:p>
          <a:p>
            <a:pPr marL="0" indent="0">
              <a:lnSpc>
                <a:spcPct val="100000"/>
              </a:lnSpc>
              <a:spcBef>
                <a:spcPts val="0"/>
              </a:spcBef>
              <a:spcAft>
                <a:spcPts val="300"/>
              </a:spcAft>
              <a:buNone/>
            </a:pPr>
            <a:r>
              <a:rPr sz="1300" b="0" i="0">
                <a:latin typeface="Times New Roman"/>
                <a:cs typeface="Times New Roman"/>
              </a:rPr>
              <a:t>[21] H. Tang, D. Key, and K. Ellis, "WorldCoder, a model-based LLM agent: Building world models by writing code and interacting with the environment," in NeurIPS, 2024.</a:t>
            </a:r>
          </a:p>
          <a:p>
            <a:pPr marL="0" indent="0">
              <a:lnSpc>
                <a:spcPct val="100000"/>
              </a:lnSpc>
              <a:spcBef>
                <a:spcPts val="0"/>
              </a:spcBef>
              <a:spcAft>
                <a:spcPts val="300"/>
              </a:spcAft>
              <a:buNone/>
            </a:pPr>
            <a:r>
              <a:rPr sz="1300" b="0" i="0">
                <a:latin typeface="Times New Roman"/>
                <a:cs typeface="Times New Roman"/>
              </a:rPr>
              <a:t>[22] L. Guan, K. Valmeekam, S. Sreedharan, and S. Kambhampati, "Leveraging pre-trained large language models to construct and utilize world models for model-based task planning," in NeurIPS, 2023.</a:t>
            </a:r>
          </a:p>
          <a:p>
            <a:pPr marL="0" indent="0">
              <a:lnSpc>
                <a:spcPct val="100000"/>
              </a:lnSpc>
              <a:spcBef>
                <a:spcPts val="0"/>
              </a:spcBef>
              <a:spcAft>
                <a:spcPts val="300"/>
              </a:spcAft>
              <a:buNone/>
            </a:pPr>
            <a:r>
              <a:rPr sz="1300" b="0" i="0">
                <a:latin typeface="Times New Roman"/>
                <a:cs typeface="Times New Roman"/>
              </a:rPr>
              <a:t>[23] Q. Yang, K. Wu, and Y. Jiang, "Learning action models from plan examples using weighted MAX-SAT," Artificial Intelligence, vol. 171, no. 2-3, pp. 107-143, 2007.</a:t>
            </a:r>
          </a:p>
          <a:p>
            <a:pPr marL="0" indent="0">
              <a:lnSpc>
                <a:spcPct val="100000"/>
              </a:lnSpc>
              <a:spcBef>
                <a:spcPts val="0"/>
              </a:spcBef>
              <a:spcAft>
                <a:spcPts val="300"/>
              </a:spcAft>
              <a:buNone/>
            </a:pPr>
            <a:r>
              <a:rPr sz="1300" b="0" i="0">
                <a:latin typeface="Times New Roman"/>
                <a:cs typeface="Times New Roman"/>
              </a:rPr>
              <a:t>[24] S. N. Cresswell, T. L. McCluskey, and M. M. West, "Acquiring planning domain models using LOCM," The Knowledge Engineering Review, vol. 28, no. 2, pp. 195-213, 2013.</a:t>
            </a:r>
          </a:p>
          <a:p>
            <a:pPr marL="0" indent="0">
              <a:lnSpc>
                <a:spcPct val="100000"/>
              </a:lnSpc>
              <a:spcBef>
                <a:spcPts val="0"/>
              </a:spcBef>
              <a:spcAft>
                <a:spcPts val="300"/>
              </a:spcAft>
              <a:buNone/>
            </a:pPr>
            <a:r>
              <a:rPr sz="1300" b="0" i="0">
                <a:latin typeface="Times New Roman"/>
                <a:cs typeface="Times New Roman"/>
              </a:rPr>
              <a:t>[25] D. Aineto, S. Jiménez Celorrio, and E. Onaindia, "Learning action models with minimal observability," Artificial Intelligence, vol. 275, pp. 104-137, 2019.</a:t>
            </a:r>
          </a:p>
          <a:p>
            <a:pPr marL="0" indent="0">
              <a:lnSpc>
                <a:spcPct val="100000"/>
              </a:lnSpc>
              <a:spcBef>
                <a:spcPts val="0"/>
              </a:spcBef>
              <a:spcAft>
                <a:spcPts val="300"/>
              </a:spcAft>
              <a:buNone/>
            </a:pPr>
            <a:r>
              <a:rPr sz="1300" b="0" i="0">
                <a:latin typeface="Times New Roman"/>
                <a:cs typeface="Times New Roman"/>
              </a:rPr>
              <a:t>[26] B. Juba, H. S. Le, and R. Stern, "Safe learning of lifted action models," in Proc. 18th KR, 2021, pp. 379-389.</a:t>
            </a:r>
          </a:p>
          <a:p>
            <a:pPr marL="0" indent="0">
              <a:lnSpc>
                <a:spcPct val="100000"/>
              </a:lnSpc>
              <a:spcBef>
                <a:spcPts val="0"/>
              </a:spcBef>
              <a:spcAft>
                <a:spcPts val="300"/>
              </a:spcAft>
              <a:buNone/>
            </a:pPr>
            <a:r>
              <a:rPr sz="1300" b="0" i="0">
                <a:latin typeface="Times New Roman"/>
                <a:cs typeface="Times New Roman"/>
              </a:rPr>
              <a:t>[27] L. Lamanna, A. Saetti, L. Serafini, A. Gerevini, and P. Traverso, "Online learning of action models for PDDL planning," in Proc. 30th IJCAI, 2021, pp. 4112-4118.</a:t>
            </a:r>
          </a:p>
          <a:p>
            <a:pPr marL="0" indent="0">
              <a:lnSpc>
                <a:spcPct val="100000"/>
              </a:lnSpc>
              <a:spcBef>
                <a:spcPts val="0"/>
              </a:spcBef>
              <a:spcAft>
                <a:spcPts val="300"/>
              </a:spcAft>
              <a:buNone/>
            </a:pPr>
            <a:r>
              <a:rPr sz="1300" b="0" i="0">
                <a:latin typeface="Times New Roman"/>
                <a:cs typeface="Times New Roman"/>
              </a:rPr>
              <a:t>[28] P. Verma, S. R. Marpally, and S. Srivastava, "Asking the right questions: Learning interpretable action models through query answering," in Proc. AAAI, vol. 35, no. 13, 2021, pp. 12024-12033.</a:t>
            </a:r>
          </a:p>
          <a:p>
            <a:pPr marL="0" indent="0">
              <a:lnSpc>
                <a:spcPct val="100000"/>
              </a:lnSpc>
              <a:spcBef>
                <a:spcPts val="0"/>
              </a:spcBef>
              <a:spcAft>
                <a:spcPts val="300"/>
              </a:spcAft>
              <a:buNone/>
            </a:pPr>
            <a:r>
              <a:rPr sz="1300" b="0" i="0">
                <a:latin typeface="Times New Roman"/>
                <a:cs typeface="Times New Roman"/>
              </a:rPr>
              <a:t>[29] Y. Du et al., "PP-OCR: A practical ultra lightweight OCR system," arXiv:2009.09941, 2020.</a:t>
            </a:r>
          </a:p>
          <a:p>
            <a:pPr marL="0" indent="0">
              <a:lnSpc>
                <a:spcPct val="100000"/>
              </a:lnSpc>
              <a:spcBef>
                <a:spcPts val="0"/>
              </a:spcBef>
              <a:spcAft>
                <a:spcPts val="300"/>
              </a:spcAft>
              <a:buNone/>
            </a:pPr>
            <a:r>
              <a:rPr sz="1300" b="0" i="0">
                <a:latin typeface="Times New Roman"/>
                <a:cs typeface="Times New Roman"/>
              </a:rPr>
              <a:t>[30] W3C, "Web Content Accessibility Guidelines (WCAG) 2.1," W3C Recommendation, 2018.</a:t>
            </a:r>
          </a:p>
          <a:p>
            <a:pPr marL="0" indent="0">
              <a:lnSpc>
                <a:spcPct val="100000"/>
              </a:lnSpc>
              <a:spcBef>
                <a:spcPts val="0"/>
              </a:spcBef>
              <a:spcAft>
                <a:spcPts val="300"/>
              </a:spcAft>
              <a:buNone/>
            </a:pPr>
            <a:r>
              <a:rPr sz="1300" b="0" i="0">
                <a:latin typeface="Times New Roman"/>
                <a:cs typeface="Times New Roman"/>
              </a:rPr>
              <a:t>[31] Gemini Team, "Gemini: A family of highly capable multimodal models," arXiv:2312.11805, 2023.</a:t>
            </a:r>
          </a:p>
          <a:p>
            <a:pPr marL="0" indent="0">
              <a:lnSpc>
                <a:spcPct val="100000"/>
              </a:lnSpc>
              <a:spcBef>
                <a:spcPts val="0"/>
              </a:spcBef>
              <a:spcAft>
                <a:spcPts val="300"/>
              </a:spcAft>
              <a:buNone/>
            </a:pPr>
            <a:r>
              <a:rPr sz="1300" b="0" i="0">
                <a:latin typeface="Times New Roman"/>
                <a:cs typeface="Times New Roman"/>
              </a:rPr>
              <a:t>[32] E. B. Wilson, "Probable inference, the law of succession, and statistical inference," J. American Statistical Association, vol. 22, no. 158, pp. 209-212, 1927.</a:t>
            </a:r>
          </a:p>
        </p:txBody>
      </p:sp>
      <p:sp>
        <p:nvSpPr>
          <p:cNvPr id="5" name="Date Placeholder 4">
            <a:extLst>
              <a:ext uri="{FF2B5EF4-FFF2-40B4-BE49-F238E27FC236}">
                <a16:creationId xmlns:a16="http://schemas.microsoft.com/office/drawing/2014/main" xmlns="" id="{B732D3DB-7149-E1E5-D5F9-4FC93A788894}"/>
              </a:ext>
            </a:extLst>
          </p:cNvPr>
          <p:cNvSpPr>
            <a:spLocks noGrp="1"/>
          </p:cNvSpPr>
          <p:nvPr>
            <p:ph type="dt" sz="half" idx="10"/>
          </p:nvPr>
        </p:nvSpPr>
        <p:spPr/>
        <p:txBody>
          <a:bodyPr/>
          <a:lstStyle/>
          <a:p>
            <a:r>
              <a:rPr lang="en-IN" smtClean="0"/>
              <a:t>28-10-2026</a:t>
            </a:r>
            <a:endParaRPr lang="en-IN"/>
          </a:p>
        </p:txBody>
      </p:sp>
      <p:sp>
        <p:nvSpPr>
          <p:cNvPr id="6" name="Footer Placeholder 5">
            <a:extLst>
              <a:ext uri="{FF2B5EF4-FFF2-40B4-BE49-F238E27FC236}">
                <a16:creationId xmlns:a16="http://schemas.microsoft.com/office/drawing/2014/main" xmlns=""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E431EAEC-BCE3-2979-69C6-273309B9FFA7}"/>
              </a:ext>
            </a:extLst>
          </p:cNvPr>
          <p:cNvSpPr>
            <a:spLocks noGrp="1"/>
          </p:cNvSpPr>
          <p:nvPr>
            <p:ph type="sldNum" sz="quarter" idx="12"/>
          </p:nvPr>
        </p:nvSpPr>
        <p:spPr/>
        <p:txBody>
          <a:bodyPr/>
          <a:lstStyle/>
          <a:p>
            <a:fld id="{65201FD4-9D8D-4491-815B-63C7BF4F0034}" type="slidenum">
              <a:rPr lang="en-IN" smtClean="0"/>
              <a:t>14</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376</Words>
  <Application>Microsoft Macintosh PowerPoint</Application>
  <PresentationFormat>Custom</PresentationFormat>
  <Paragraphs>98</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&lt;&lt;Programme B.Tech/ M.Tech Course Code – Course Title&gt;&gt; &lt;&lt;Project Title&gt;&gt;</vt:lpstr>
      <vt:lpstr>Approval Mail From Guide</vt:lpstr>
      <vt:lpstr>Aim</vt:lpstr>
      <vt:lpstr>Abstract</vt:lpstr>
      <vt:lpstr>Literature Review</vt:lpstr>
      <vt:lpstr>Research Gap</vt:lpstr>
      <vt:lpstr>Objectives</vt:lpstr>
      <vt:lpstr>Framework/Architecture/Block Diagram</vt:lpstr>
      <vt:lpstr>Functional Requirements</vt:lpstr>
      <vt:lpstr>Modules</vt:lpstr>
      <vt:lpstr>Experiments and Results</vt:lpstr>
      <vt:lpstr>Conclusion and Future Work</vt:lpstr>
      <vt:lpstr>Outcome Achieved</vt:lpstr>
      <vt:lpstr>References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&lt;&lt;Programme B.Tech/ M.Tech Course Code – Course Title&gt;&gt; &lt;&lt;Project Title&gt;&gt;</dc:title>
  <dc:creator>Parthasarathy G</dc:creator>
  <cp:lastModifiedBy>Prakash Mohan</cp:lastModifiedBy>
  <cp:revision>12</cp:revision>
  <dcterms:created xsi:type="dcterms:W3CDTF">2026-07-14T06:00:41Z</dcterms:created>
  <dcterms:modified xsi:type="dcterms:W3CDTF">2026-10-05T06:25:49Z</dcterms:modified>
</cp:coreProperties>
</file>