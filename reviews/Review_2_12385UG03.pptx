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9" r:id="rId20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200" b="1"/>
              <a:t>B.Tech BCSE497J - Project 1</a:t>
            </a:r>
          </a:p>
          <a:p>
            <a:pPr algn="ctr"/>
            <a:r>
              <a:rPr sz="2800" b="1"/>
              <a:t>Vision-Based UI State Discovery for API-Independent Software Automation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latin typeface="Calibri"/>
              </a:rPr>
              <a:t>Project ID: 12385UG03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spcAft>
                <a:spcPts val="200"/>
              </a:spcAft>
            </a:pPr>
            <a:r>
              <a:rPr sz="1600" b="0"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>
                <a:latin typeface="Calibri"/>
              </a:rPr>
              <a:t>Team members:</a:t>
            </a:r>
          </a:p>
          <a:p>
            <a:pPr algn="ctr">
              <a:spcAft>
                <a:spcPts val="200"/>
              </a:spcAft>
            </a:pPr>
            <a:r>
              <a:rPr sz="1600" b="1">
                <a:latin typeface="Calibri"/>
              </a:rPr>
              <a:t>Mantri Vishnu Vikranth   (23BCE0526)</a:t>
            </a:r>
          </a:p>
          <a:p>
            <a:pPr algn="ctr">
              <a:spcAft>
                <a:spcPts val="200"/>
              </a:spcAft>
            </a:pPr>
            <a:r>
              <a:rPr sz="1600" b="1">
                <a:latin typeface="Calibri"/>
              </a:rPr>
              <a:t>Harish Kumar V S           (23BCT0223)</a:t>
            </a:r>
          </a:p>
          <a:p>
            <a:pPr algn="ctr">
              <a:spcAft>
                <a:spcPts val="200"/>
              </a:spcAft>
            </a:pPr>
            <a:r>
              <a:rPr sz="1600" b="1">
                <a:latin typeface="Calibri"/>
              </a:rPr>
              <a:t>Abhinav Pant                   (23BCE0513)</a:t>
            </a:r>
          </a:p>
          <a:p>
            <a:pPr algn="ctr">
              <a:spcAft>
                <a:spcPts val="200"/>
              </a:spcAft>
            </a:pPr>
            <a:r>
              <a:rPr sz="1600" b="0"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>
                <a:latin typeface="Calibri"/>
              </a:rPr>
              <a:t>Faculty guide :</a:t>
            </a:r>
          </a:p>
          <a:p>
            <a:pPr algn="ctr">
              <a:spcAft>
                <a:spcPts val="200"/>
              </a:spcAft>
            </a:pPr>
            <a:r>
              <a:rPr sz="1600" b="1">
                <a:latin typeface="Calibri"/>
              </a:rPr>
              <a:t>Dr. Sendhil Kumar K S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600200"/>
            <a:ext cx="10515600" cy="960120"/>
          </a:xfrm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0">
                <a:latin typeface="Calibri"/>
              </a:rPr>
              <a:t>Guide approval for the Review 2 scope was to be obtained by e-mail before 01-09-2026 (sample format below).</a:t>
            </a:r>
          </a:p>
          <a:p>
            <a:pPr algn="l">
              <a:spcAft>
                <a:spcPts val="300"/>
              </a:spcAft>
            </a:pPr>
            <a:r>
              <a:rPr sz="1400" b="1">
                <a:latin typeface="Calibri"/>
              </a:rPr>
              <a:t>Status: Not Provided - approval e-mail to be inserted here before submission.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latin typeface="Calibri"/>
              </a:rPr>
              <a:t>Primary Aim (unchanged from Review 1): To conceptualize, develop, and validate a highly resilient, self-learning Autonomous Software Agent that operates entirely independent of APIs and DOM structures, utilizing pure computer vision combined with graph-based spatial memory to achieve scriptless, human-like interface automation across unseen desktop, web, and legacy software environments.</a:t>
            </a:r>
          </a:p>
          <a:p>
            <a:pPr algn="l">
              <a:spcAft>
                <a:spcPts val="500"/>
              </a:spcAft>
            </a:pPr>
            <a:r>
              <a:rPr sz="1500" b="1">
                <a:latin typeface="Calibri"/>
              </a:rPr>
              <a:t>Refined focus for Project-I, agreed after the Review 1 literature survey: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latin typeface="Calibri"/>
              </a:rPr>
              <a:t>Within that aim, the evaluated research contribution is the active discovery of hidden GUI action preconditions from pixels, and their use for compositional planning.</a:t>
            </a:r>
          </a:p>
          <a:p>
            <a:pPr algn="l">
              <a:spcAft>
                <a:spcPts val="500"/>
              </a:spcAft>
            </a:pPr>
            <a:r>
              <a:rPr sz="1500" b="1">
                <a:latin typeface="Calibri"/>
              </a:rPr>
              <a:t>Key Paradigms: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latin typeface="Calibri"/>
              </a:rPr>
              <a:t>From Reactive to Stateful: moving beyond stepwise "query-act" loops.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latin typeface="Calibri"/>
              </a:rPr>
              <a:t>From Code to Cognition: bypassing HTML and accessibility trees.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latin typeface="Calibri"/>
              </a:rPr>
              <a:t>From Coordinates to Semantics: understanding UI elements by functional intent.</a:t>
            </a:r>
          </a:p>
          <a:p>
            <a:pPr lvl="1" algn="l">
              <a:spcAft>
                <a:spcPts val="500"/>
              </a:spcAft>
            </a:pPr>
            <a:r>
              <a:rPr sz="1300" b="1">
                <a:latin typeface="Calibri"/>
              </a:rPr>
              <a:t>From Topology to Function (added at Review 2): remembering not only where an action led, but the observable conditions under which it works at all.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latin typeface="Calibri"/>
              </a:rPr>
              <a:t>A large body of enterprise, legacy, remote-desktop and canvas-rendered software exposes no stable API, DOM or accessibility tree, so automation must be driven from what is drawn on the screen. This project develops a screenshot-native agent that perceives an application only from rendered pixels and acts only through mouse and keyboard events at pixel coordinates.</a:t>
            </a:r>
          </a:p>
          <a:p>
            <a:pPr algn="l">
              <a:spcAft>
                <a:spcPts val="600"/>
              </a:spcAft>
            </a:pPr>
            <a:r>
              <a:rPr sz="1400" b="0">
                <a:latin typeface="Calibri"/>
              </a:rPr>
              <a:t>Visible controls are grounded locally by OmniParser regions reconciled with offline OCR, reduced to position-independent semantic signatures, and stored in a persistent UI state-transition graph that survives layout changes.</a:t>
            </a:r>
          </a:p>
          <a:p>
            <a:pPr algn="l">
              <a:spcAft>
                <a:spcPts val="600"/>
              </a:spcAft>
            </a:pPr>
            <a:r>
              <a:rPr sz="1400" b="0">
                <a:latin typeface="Calibri"/>
              </a:rPr>
              <a:t>Beyond screen topology, the agent induces explicit, evidence-backed action schemas recording each operation's visually grounded preconditions, expected effects, supporting and contradicting evidence, and a confidence value derived from that evidence rather than from model prose. Uncertain preconditions are resolved by safe contrasting interventions inside a resettable sandbox, and a bounded backward-chaining planner establishes missing preconditions for goals whose exact trajectory was never observed.</a:t>
            </a:r>
          </a:p>
          <a:p>
            <a:pPr algn="l">
              <a:spcAft>
                <a:spcPts val="600"/>
              </a:spcAft>
            </a:pPr>
            <a:r>
              <a:rPr sz="1400" b="0">
                <a:latin typeface="Calibri"/>
              </a:rPr>
              <a:t>Evaluation uses the Visual Function Lab, a deterministic benchmark with hidden ground-truth rules, 17 semantic actions, 3 layouts and an independent evaluator. Four comparable memory modes run through one harness; the frozen baseline comparison is scheduled for Phase 6.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rPr sz="2600" b="1"/>
              <a:t>Literature Review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32588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65960"/>
                <a:gridCol w="2514600"/>
                <a:gridCol w="2697480"/>
                <a:gridCol w="2651760"/>
              </a:tblGrid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/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Pros /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Findings for this project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OmniParser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(Microsoft, 2024)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Parse a raw screenshot into interactable regions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Region detector plus functional captioning on pixels only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No DOM, generalises across apps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Stateless execution loop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Adopted as our default grounder; regions decide clickability</a:t>
                      </a:r>
                    </a:p>
                  </a:txBody>
                  <a:tcPr marT="12700" marB="12700"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CogAgent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(CVPR, 2024)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GUI question answering on high-resolution screens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1120x1120 vision-language model with a high-resolution cross-module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Reads small text and icons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Reactive, single-step; high compute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Confirms pixel-only reading is feasible at GUI resolution</a:t>
                      </a:r>
                    </a:p>
                  </a:txBody>
                  <a:tcPr marT="12700" marB="12700"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UI-TARS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(ByteDance, 2025)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End-to-end native GUI agent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One model trained on large screenshot corpora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Unified perception and action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No explicit topological memory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Long-horizon context loss motivates external, inspectable memory</a:t>
                      </a:r>
                    </a:p>
                  </a:txBody>
                  <a:tcPr marT="12700" marB="12700"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UGround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(ICLR, 2025)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Universal visual grounding for GUI agents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10M elements over 1.3M screenshots, vision only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Up to 20 absolute points gain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Depends on an external planner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Grounding is mature enough to build reasoning on top of</a:t>
                      </a:r>
                    </a:p>
                  </a:txBody>
                  <a:tcPr marT="12700" marB="12700"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GraphPilot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(JICN, 2026)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One-step LLM planning over an app knowledge graph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Builds graph topology by extracting HTML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Low latency, low hallucination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Needs HTML; fails on desktop and legacy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Graph memory works, but is DOM-bound: our graph is built from pixels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Calibri"/>
              </a:rPr>
              <a:t>Review 1 position (retained as motivation):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"Seeing without remembering": pure vision agents generalise across systems but act statelessly, so long-horizon workflows accumulate errors.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"Remembering without seeing": graph-based planners are reliable but build their topology from DOM/HTML, so they break on desktop, legacy and Citrix/RDP software.</a:t>
            </a:r>
          </a:p>
          <a:p>
            <a:pPr algn="l">
              <a:spcAft>
                <a:spcPts val="400"/>
              </a:spcAft>
            </a:pPr>
            <a:r>
              <a:rPr sz="1300" b="1">
                <a:latin typeface="Calibri"/>
              </a:rPr>
              <a:t>Refinement after the Review 1 survey (what changed):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Autonomous exploration, transition memory and graph reuse from pixels are now covered by published systems (GUI-explorer, Executable Agentic Memory, ActionEngine), so "a visual state graph" is no longer a defensible novelty claim. The graph is retained as a baseline and a navigation aid.</a:t>
            </a:r>
          </a:p>
          <a:p>
            <a:pPr algn="l">
              <a:spcAft>
                <a:spcPts val="400"/>
              </a:spcAft>
            </a:pPr>
            <a:r>
              <a:rPr sz="1300" b="1">
                <a:latin typeface="Calibri"/>
              </a:rPr>
              <a:t>The gap that remains open: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Topology is remembered, applicability is not: a graph records that clicking Export led somewhere, not that Export needs a document to be open.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Effects are described, conditions are not: free-text effect memories carry no support, contradiction or confidence that later evidence can revise.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Evidence is passive: no reviewed GUI agent deliberately creates a contrasting state to separate a genuine enabling condition from a coincidence.</a:t>
            </a:r>
          </a:p>
          <a:p>
            <a:pPr lvl="1" algn="l">
              <a:spcAft>
                <a:spcPts val="400"/>
              </a:spcAft>
            </a:pPr>
            <a:r>
              <a:rPr sz="1100" b="0">
                <a:latin typeface="Calibri"/>
              </a:rPr>
              <a:t>Precondition learning has not been done from pixels: existing work uses robot data, symbolic traces or designer-authored operators.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34440"/>
            <a:ext cx="10881360" cy="2788920"/>
          </a:xfrm>
        </p:spPr>
        <p:txBody>
          <a:bodyPr wrap="square">
            <a:norm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O1  Enforce a pixel-only information boundary, verified by an automated compliance test.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O2  Extract typed, visually grounded state predicates with position-independent identity.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O3  Learn action effects from outcome-classified transitions with support and contradiction counts.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O4  Induce preconditions with evidence-derived confidence (support+1)/(support+contradiction+2).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O5  Select and run safe, budgeted contrasting interventions inside a resettable sandbox.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O6  Plan compositionally by backward chaining to establish missing preconditions.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O7  Evaluate against baselines B0-B4 and the required ablations with paired statistics.</a:t>
            </a:r>
          </a:p>
          <a:p>
            <a:pPr algn="l">
              <a:spcAft>
                <a:spcPts val="300"/>
              </a:spcAft>
            </a:pPr>
            <a:r>
              <a:rPr sz="1250" b="0">
                <a:latin typeface="Calibri"/>
              </a:rPr>
              <a:t>O8  Demonstrate the method on one real desktop application. | O9  Deliver an action-model inspection interface. | O10  Produce the research paper and reproducibility package.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617720"/>
            <a:ext cx="1371600" cy="1106424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553712"/>
            <a:ext cx="155448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04164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latin typeface="Calibri"/>
              </a:rPr>
              <a:t>Identified Sustainable Development Goals (unchanged from Review 1):  SDG 8 Decent Work and Economic Growth   |   SDG 9 Industry, Innovation and Infrastructure   |   SDG 12 Responsible Consumption and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572000"/>
            <a:ext cx="717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latin typeface="Calibri"/>
              </a:rPr>
              <a:t>Technology Readiness Level: TRL 4 - Technology validated in laboratory (Review 1 stated TRL 3).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Justification: the integrated pipeline now runs 48 deterministic evaluator runs and 21 real-browser calibration runs inside a controlled laboratory benchmark.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Outcome targeted: Conference / Journal paper (Scopus). Manuscript scheduled 28 Sep - 10 Oct 2026 (Objective O10). Patent / Start-up / Product: Not Provided.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051560"/>
            <a:ext cx="4966404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1234440"/>
            <a:ext cx="3246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latin typeface="Calibri"/>
              </a:rPr>
              <a:t>Closed observe - decide - act - verify - learn loop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1  Perception (pixels only): OmniParser regions + offline OCR; predicates extracted with visual grounding.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2  Reasoning: schema planner first, then safe experiment selector, then VLM fallback policy.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3  Safety guard: action taxonomy, grounding check, action and experiment budgets.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4  Executor: mouse and keyboard at pixel coordinates, with semantic re-grounding.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5  Verifier: fresh screenshot, explicit postcondition check, five outcome classes.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6  Evidence update: support, contradiction, confidence = (s+1)/(s+c+2).</a:t>
            </a:r>
          </a:p>
          <a:p>
            <a:pPr algn="l">
              <a:spcAft>
                <a:spcPts val="400"/>
              </a:spcAft>
            </a:pPr>
            <a:r>
              <a:rPr sz="1100" b="0">
                <a:latin typeface="Calibri"/>
              </a:rPr>
              <a:t>7  Persistent memory: state graph, action model, SQLite run log - each independently disableable.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Perception (FR1-FR4): capture a screenshot every step; detect controls and state evidence from pixels alone with role, label, actionability, enabled flag, confidence and bounding box; three interchangeable grounders behind one detect() interface; convert each observation into normalised, visually grounded predicates.</a:t>
            </a:r>
          </a:p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Memory (FR5, FR6, FR15): persistent state-transition graph matched by perceptual hash and semantic signature; every remembered action re-grounded before execution; state graph and action model written atomically as readable JSON with an SQLite transition log.</a:t>
            </a:r>
          </a:p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Learning (FR10-FR12): effects from verified transitions; precondition status from contrasting evidence with confidence (support+1)/(support+contradiction+2); safe, budgeted, sandbox-only interventions with a hard block list.</a:t>
            </a:r>
          </a:p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Reasoning and execution (FR7, FR13, FR20): eleven action verbs delivered at pixel coordinates; bounded backward chaining that establishes missing preconditions and replans on failure; bounded visual settling after navigation.</a:t>
            </a:r>
          </a:p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Verification and safety (FR8, FR9, FR14, FR19): exactly one outcome class per action; success only on an explicitly verified postcondition; completion claims refused without current visual grounding; typed goal constraints, including entity_quantity proved only from one visible row.</a:t>
            </a:r>
          </a:p>
          <a:p>
            <a:pPr algn="l">
              <a:spcAft>
                <a:spcPts val="600"/>
              </a:spcAft>
            </a:pPr>
            <a:r>
              <a:rPr sz="1250" b="0">
                <a:latin typeface="Calibri"/>
              </a:rPr>
              <a:t>Evaluation (FR16-FR18): four comparable memory modes and budget flags; deterministic benchmark with hidden ground truth and an independent evaluator; browsable action-model inspection interface (pending).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0"/>
                <a:gridCol w="1737360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perception.py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Screenshot capture and grounding: OmniParser region detector reconciled with offline OCR; Gemini and benchmark-pixel grounders behind the same detect() interface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predicates.py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Normalised, visually grounded state predicates; controlled vocabulary; before/after deltas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state_graph.py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Persistent UI state-transition graph; perceptual hash plus semantic signature; reliability-weighted replay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action_model.py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Evidence-backed action schemas: preconditions, effects, support, contradiction, confidence; atomic JSON export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experimentation.py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Sandbox-only, budgeted selection of safe contrasting interventions; hard block list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functional_planner.py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Bounded backward chaining over learned schemas to establish missing preconditions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decision.py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Structured vision-language fallback policy and goal-constraint extraction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executor.py / verification.py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Pixel-coordinate input delivery; fresh-screenshot postcondition checks and outcome classification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agent.py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Observe-decide-act-verify-learn loop, safety guard, constraint ledger, visual route settling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logging_store.py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SQLite run and transition log with predicates, evidence, tokens and per-phase latency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visual_function_lab*.py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Deterministic benchmark with hidden ground truth, three layouts and an independent evaluator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Action-model inspection UI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Browsable view of learned schemas with links to supporting screenshots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Pending (21-27 Sep 2026)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931920"/>
                <a:gridCol w="1737360"/>
              </a:tblGrid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Unit and integration suite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126 test methods across 7 test files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All pass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Benchmark coverage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Visual Function Lab: 16 tasks x 3 layouts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48 / 48 evaluator runs execute; all 17 semantic actions exercised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Browser calibration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Real Chromium via Playwright input devices, pixel-only perception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21 positive workflow / layout runs completed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End-to-end preflight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Hosted vision-language policy, document-export task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Task completed; confirmed by the independent evaluator, not by self-report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Pixel-only compliance test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Instrumented agent process (Objective O1)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Not Provided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Pending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Baselines B0-B4 vs proposed system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Frozen task split, &gt;=3 runs per task and configuration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Not Provided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Pending (3-20 Sep 2026)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Required ablations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 intervention / no contradictions / no graph / hidden preconditions / layout shift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Not Provided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Pending (3-20 Sep 2026)</a:t>
                      </a:r>
                    </a:p>
                  </a:txBody>
                  <a:tcPr marT="12700" marB="12700"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Real-application case study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Desktop editor in a disposable environment (Objective O8)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Not Provided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>
                          <a:latin typeface="Calibri"/>
                        </a:rPr>
                        <a:t>Pending (21-26 Sep 2026)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349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latin typeface="Calibri"/>
              </a:rPr>
              <a:t>Primary metrics defined for the frozen Phase 6 comparison: held-out task success, invalid action attempts, precondition F1 and effect F1, reported with paired statistics and 95% confidence intervals. No measured baseline numbers are claimed at Review 2.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latin typeface="Calibri"/>
              </a:rPr>
              <a:t>Delivered since Review 1: the Review 1 prototype has become a working pixel-only agent with four comparable memory modes, grounded predicates, evidence-backed action schemas, a safe experiment selector, a bounded schema planner, and a purpose-built deterministic benchmark with an independent evaluator.</a:t>
            </a:r>
          </a:p>
          <a:p>
            <a:pPr algn="l">
              <a:spcAft>
                <a:spcPts val="700"/>
              </a:spcAft>
            </a:pPr>
            <a:r>
              <a:rPr sz="1300" b="0">
                <a:latin typeface="Calibri"/>
              </a:rPr>
              <a:t>Validated so far: 126 tests across 7 files pass; all 48 benchmark task/layout runs execute across 17 semantic actions; 21 real-browser calibration runs completed; one end-to-end vision-language run confirmed by the evaluator rather than by self-report.</a:t>
            </a:r>
          </a:p>
          <a:p>
            <a:pPr algn="l">
              <a:spcAft>
                <a:spcPts val="700"/>
              </a:spcAft>
            </a:pPr>
            <a:r>
              <a:rPr sz="1300" b="0">
                <a:latin typeface="Calibri"/>
              </a:rPr>
              <a:t>Scope correction: after the Review 1 survey the novelty claim was narrowed from "a visual UI state graph" to "intervention-validated GUI action preconditions". The graph is retained as a baseline and navigation aid. Causal language is deliberately avoided.</a:t>
            </a:r>
          </a:p>
          <a:p>
            <a:pPr algn="l">
              <a:spcAft>
                <a:spcPts val="700"/>
              </a:spcAft>
            </a:pPr>
            <a:r>
              <a:rPr sz="1300" b="0">
                <a:latin typeface="Calibri"/>
              </a:rPr>
              <a:t>Remaining work before final submission (12 Oct 2026): baselines B0-B4 and the required ablations on the frozen split with paired statistics (3-20 Sep); distinct composition tasks added to the split; pixel-only compliance test; real-application case study and action-model inspection interface (21-27 Sep); report and research paper (28 Sep - 10 Oct).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34440"/>
            <a:ext cx="11247120" cy="493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 algn="l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sz="1100" b="0">
                <a:latin typeface="Calibri"/>
              </a:rPr>
              <a:t>[1] W. Hong et al., "CogAgent: A Visual Language Model for GUI Agents," in Proc. IEEE/CVF CVPR, 2024, pp. 14281-14290.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[2] Microsoft Research, "OmniParser for Pure Vision Based GUI Agent," arXiv:2408.00203, 2024.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[3] B. Gou et al., "Navigating the Digital World as Humans Do: Universal Visual Grounding for GUI Agents," in Proc. ICLR, 2025.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[4] M. Yu, S. Luo, and X. Chen, "GraphPilot: GUI Task Automation with One-Step LLM Reasoning Powered by Knowledge Graph," J. Intelligent Computing and Networking, Jan. 2026.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[5] ByteDance, "UI-TARS: Pioneering Automated GUI Interaction with Native Agents," arXiv:2501.12326, 2025.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[6] B. Xie et al., "GUI-explorer: Autonomous Exploration and Mining of Transition-aware Knowledge for GUI Agent," in Proc. 63rd Annual Meeting of the ACL (Long Papers), Vienna, Austria, 2025, pp. 5650-5667.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[7] Z. Qin et al., "Executable Agentic Memory for GUI Agent," arXiv:2605.12294, 2026.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[8] H. Zhong et al., "ActionEngine: From Reactive to Programmatic GUI Agents via State Machine Memory," arXiv:2602.20502, 2026.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[9] Y. Zhang et al., "Don't Act Blindly: Robust GUI Automation via Action-Effect Verification and Self-Correction," arXiv:2604.05477, 2026.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[10] D. Sliwowski and D. Lee, "ConditionNET: Learning Preconditions and Effects for Execution Monitoring," IEEE Robotics and Automation Letters, 2025.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[11] A. M. Memon, M. E. Pollack, and M. L. Soffa, "Hierarchical GUI Test Case Generation Using Automated Planning," IEEE Trans. Software Engineering, vol. 27, no. 2, pp. 144-155, 2001.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[12] T. Xie et al., "OSWorld: Benchmarking Multimodal Agents for Open-Ended Tasks in Real Computer Environments," in Advances in NeurIPS 37 (Datasets and Benchmarks Track), 2024.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[13] D. Vorvul et al., "Graph-Structured Persistent Memory for Efficient LLM-Based Computer Use Agents," Axioms, vol. 15, no. 6, art. 415, 2026.</a:t>
            </a:r>
          </a:p>
          <a:p>
            <a:pPr algn="l">
              <a:spcAft>
                <a:spcPts val="300"/>
              </a:spcAft>
            </a:pPr>
            <a:r>
              <a:rPr sz="1100" b="0">
                <a:latin typeface="Calibri"/>
              </a:rPr>
              <a:t>[14] P. Tigas et al., "Interventions, Where and How? Experimental Design for Causal Models at Scale," in Advances in NeurIPS 35, 2022.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rPr sz="2600" b="1"/>
              <a:t>Literature Review (continued): added since Review 1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32588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65960"/>
                <a:gridCol w="2514600"/>
                <a:gridCol w="2697480"/>
                <a:gridCol w="2651760"/>
              </a:tblGrid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/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Pros /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Findings for this project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GUI-explorer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(ACL, 2025)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Mine transition-aware knowledge autonomously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Exploration plus unsupervised mining of observation-action-outcome triples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Training-free; 53.7% SPA-Bench, 47.4% AndroidWorld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Effects only, no preconditions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Autonomous exploration and transition memory are now prior art</a:t>
                      </a:r>
                    </a:p>
                  </a:txBody>
                  <a:tcPr marT="12700" marB="12700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Executable Agentic Memory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(2026)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Reuse executable interaction paths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Offline knowledge-graph construction, online path retrieval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Several-fold token reduction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Stores topology, not applicability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Confirms graph memory alone is no longer a novel contribution</a:t>
                      </a:r>
                    </a:p>
                  </a:txBody>
                  <a:tcPr marT="12700" marB="12700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ActionEngine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(2026)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Move GUI agents from reactive to programmatic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State-machine memory compiled into executable code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+ 95% on a WebArena subset with about one model call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No evidence or uncertainty model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State memory is well covered; evidence and uncertainty are not</a:t>
                      </a:r>
                    </a:p>
                  </a:txBody>
                  <a:tcPr marT="12700" marB="12700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VeriGUI / Don't Act Blindly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(2026)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Robust automation through action-effect verification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Thinking-Verification-Action-Expectation loop with self-correction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Detects failed effects and recovers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Describes effects, not applicability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Directly motivated our hardened verification and outcome classes</a:t>
                      </a:r>
                    </a:p>
                  </a:txBody>
                  <a:tcPr marT="12700" marB="12700"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ConditionNET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(IEEE RA-L, 2025)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Learn preconditions and effects for execution monitoring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30M-parameter vision-language model over demonstrations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F1 0.97 for anomaly detection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Robot manipulation, not GUI from pixels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Precondition learning is proven, but not in the pixel-only GUI setting</a:t>
                      </a:r>
                    </a:p>
                  </a:txBody>
                  <a:tcPr marT="12700" marB="12700"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PATHS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(IEEE TSE, 2001)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Hierarchical GUI test-case generation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GUI events modelled as planning operators with preconditions and effects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+ Explicit, checkable operator model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- Operators authored by a designer, not learned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>
                          <a:latin typeface="Calibri"/>
                        </a:rPr>
                        <a:t>The representation is classical; learning it from pixels is the open gap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